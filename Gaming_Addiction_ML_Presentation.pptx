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75" y="4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99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731520"/>
            <a:ext cx="640080" cy="640080"/>
          </a:xfrm>
          <a:prstGeom prst="rect">
            <a:avLst/>
          </a:prstGeom>
        </p:spPr>
      </p:pic>
      <p:sp>
        <p:nvSpPr>
          <p:cNvPr id="4" name="Text 1"/>
          <p:cNvSpPr/>
          <p:nvPr/>
        </p:nvSpPr>
        <p:spPr>
          <a:xfrm>
            <a:off x="640080" y="1463040"/>
            <a:ext cx="5486400" cy="1371600"/>
          </a:xfrm>
          <a:prstGeom prst="rect">
            <a:avLst/>
          </a:prstGeom>
          <a:noFill/>
          <a:ln/>
        </p:spPr>
        <p:txBody>
          <a:bodyPr wrap="square" lIns="0" tIns="0" rIns="0" bIns="0" rtlCol="0" anchor="ctr"/>
          <a:lstStyle/>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GAMING ADDICTION</a:t>
            </a:r>
            <a:endParaRPr lang="en-US" sz="3800" dirty="0"/>
          </a:p>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RISK PREDICTION</a:t>
            </a:r>
            <a:endParaRPr lang="en-US" sz="3800" dirty="0"/>
          </a:p>
        </p:txBody>
      </p:sp>
      <p:sp>
        <p:nvSpPr>
          <p:cNvPr id="5" name="Text 2"/>
          <p:cNvSpPr/>
          <p:nvPr/>
        </p:nvSpPr>
        <p:spPr>
          <a:xfrm>
            <a:off x="640080" y="2926080"/>
            <a:ext cx="5486400" cy="457200"/>
          </a:xfrm>
          <a:prstGeom prst="rect">
            <a:avLst/>
          </a:prstGeom>
          <a:noFill/>
          <a:ln/>
        </p:spPr>
        <p:txBody>
          <a:bodyPr wrap="square" lIns="0" tIns="0" rIns="0" bIns="0" rtlCol="0" anchor="ctr"/>
          <a:lstStyle/>
          <a:p>
            <a:pPr marL="0" indent="0">
              <a:buNone/>
            </a:pPr>
            <a:r>
              <a:rPr lang="en-US" sz="1800" i="1" dirty="0">
                <a:solidFill>
                  <a:srgbClr val="5EEAD4"/>
                </a:solidFill>
                <a:latin typeface="Calibri" pitchFamily="34" charset="0"/>
                <a:ea typeface="Calibri" pitchFamily="34" charset="-122"/>
                <a:cs typeface="Calibri" pitchFamily="34" charset="-120"/>
              </a:rPr>
              <a:t>Using Gradient Boosting &amp; XGBoost</a:t>
            </a:r>
            <a:endParaRPr lang="en-US" sz="1800" dirty="0"/>
          </a:p>
        </p:txBody>
      </p:sp>
      <p:sp>
        <p:nvSpPr>
          <p:cNvPr id="6" name="Shape 3"/>
          <p:cNvSpPr/>
          <p:nvPr/>
        </p:nvSpPr>
        <p:spPr>
          <a:xfrm>
            <a:off x="640080" y="3566160"/>
            <a:ext cx="2743200" cy="27432"/>
          </a:xfrm>
          <a:prstGeom prst="rect">
            <a:avLst/>
          </a:prstGeom>
          <a:solidFill>
            <a:srgbClr val="0D9488"/>
          </a:solidFill>
          <a:ln/>
        </p:spPr>
        <p:txBody>
          <a:bodyPr/>
          <a:lstStyle/>
          <a:p>
            <a:endParaRPr lang="en-US"/>
          </a:p>
        </p:txBody>
      </p:sp>
      <p:sp>
        <p:nvSpPr>
          <p:cNvPr id="8" name="Text 5"/>
          <p:cNvSpPr/>
          <p:nvPr/>
        </p:nvSpPr>
        <p:spPr>
          <a:xfrm>
            <a:off x="640080" y="4135806"/>
            <a:ext cx="548640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Instructor: Khulud Alshammari  |  TA: Abdullah Alharbi</a:t>
            </a:r>
            <a:endParaRPr lang="en-US" sz="1100" dirty="0"/>
          </a:p>
        </p:txBody>
      </p:sp>
      <p:sp>
        <p:nvSpPr>
          <p:cNvPr id="9" name="Shape 6"/>
          <p:cNvSpPr/>
          <p:nvPr/>
        </p:nvSpPr>
        <p:spPr>
          <a:xfrm>
            <a:off x="6583680" y="743877"/>
            <a:ext cx="2194560" cy="1280160"/>
          </a:xfrm>
          <a:prstGeom prst="rect">
            <a:avLst/>
          </a:prstGeom>
          <a:solidFill>
            <a:srgbClr val="0D9488"/>
          </a:solidFill>
          <a:ln/>
          <a:effectLst>
            <a:outerShdw blurRad="76200" dist="25400" dir="8100000" algn="bl" rotWithShape="0">
              <a:srgbClr val="000000">
                <a:alpha val="10000"/>
              </a:srgbClr>
            </a:outerShdw>
          </a:effectLst>
        </p:spPr>
        <p:txBody>
          <a:bodyPr/>
          <a:lstStyle/>
          <a:p>
            <a:endParaRPr lang="en-US"/>
          </a:p>
        </p:txBody>
      </p:sp>
      <p:sp>
        <p:nvSpPr>
          <p:cNvPr id="10" name="Text 7"/>
          <p:cNvSpPr/>
          <p:nvPr/>
        </p:nvSpPr>
        <p:spPr>
          <a:xfrm>
            <a:off x="6583680" y="777240"/>
            <a:ext cx="219456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72.5%</a:t>
            </a:r>
            <a:endParaRPr lang="en-US" sz="4000" dirty="0"/>
          </a:p>
        </p:txBody>
      </p:sp>
      <p:sp>
        <p:nvSpPr>
          <p:cNvPr id="11" name="Text 8"/>
          <p:cNvSpPr/>
          <p:nvPr/>
        </p:nvSpPr>
        <p:spPr>
          <a:xfrm>
            <a:off x="6583680" y="1508760"/>
            <a:ext cx="2194560" cy="411480"/>
          </a:xfrm>
          <a:prstGeom prst="rect">
            <a:avLst/>
          </a:prstGeom>
          <a:noFill/>
          <a:ln/>
        </p:spPr>
        <p:txBody>
          <a:bodyPr wrap="square" lIns="0" tIns="0" rIns="0" bIns="0" rtlCol="0" anchor="t"/>
          <a:lstStyle/>
          <a:p>
            <a:pPr marL="0" indent="0" algn="ctr">
              <a:buNone/>
            </a:pPr>
            <a:r>
              <a:rPr lang="en-US" sz="1100" dirty="0">
                <a:solidFill>
                  <a:srgbClr val="F0FDFA"/>
                </a:solidFill>
                <a:latin typeface="Calibri" pitchFamily="34" charset="0"/>
                <a:ea typeface="Calibri" pitchFamily="34" charset="-122"/>
                <a:cs typeface="Calibri" pitchFamily="34" charset="-120"/>
              </a:rPr>
              <a:t>Best Model Accuracy</a:t>
            </a:r>
            <a:endParaRPr lang="en-US" sz="1100" dirty="0"/>
          </a:p>
        </p:txBody>
      </p:sp>
      <p:sp>
        <p:nvSpPr>
          <p:cNvPr id="12" name="Shape 9"/>
          <p:cNvSpPr/>
          <p:nvPr/>
        </p:nvSpPr>
        <p:spPr>
          <a:xfrm>
            <a:off x="6583680" y="2377440"/>
            <a:ext cx="2194560" cy="128016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13" name="Text 10"/>
          <p:cNvSpPr/>
          <p:nvPr/>
        </p:nvSpPr>
        <p:spPr>
          <a:xfrm>
            <a:off x="6583680" y="2423160"/>
            <a:ext cx="2194560" cy="777240"/>
          </a:xfrm>
          <a:prstGeom prst="rect">
            <a:avLst/>
          </a:prstGeom>
          <a:noFill/>
          <a:ln/>
        </p:spPr>
        <p:txBody>
          <a:bodyPr wrap="square" lIns="0" tIns="0" rIns="0" bIns="0" rtlCol="0" anchor="ctr"/>
          <a:lstStyle/>
          <a:p>
            <a:pPr marL="0" indent="0" algn="ctr">
              <a:buNone/>
            </a:pPr>
            <a:r>
              <a:rPr lang="en-US" sz="4000" b="1" dirty="0">
                <a:solidFill>
                  <a:srgbClr val="5EEAD4"/>
                </a:solidFill>
                <a:latin typeface="Georgia" pitchFamily="34" charset="0"/>
                <a:ea typeface="Georgia" pitchFamily="34" charset="-122"/>
                <a:cs typeface="Georgia" pitchFamily="34" charset="-120"/>
              </a:rPr>
              <a:t>1,000</a:t>
            </a:r>
            <a:endParaRPr lang="en-US" sz="4000" dirty="0"/>
          </a:p>
        </p:txBody>
      </p:sp>
      <p:sp>
        <p:nvSpPr>
          <p:cNvPr id="14" name="Text 11"/>
          <p:cNvSpPr/>
          <p:nvPr/>
        </p:nvSpPr>
        <p:spPr>
          <a:xfrm>
            <a:off x="6583680" y="3108960"/>
            <a:ext cx="2194560" cy="41148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Dataset Records</a:t>
            </a:r>
            <a:endParaRPr lang="en-US" sz="1100" dirty="0"/>
          </a:p>
        </p:txBody>
      </p:sp>
      <p:sp>
        <p:nvSpPr>
          <p:cNvPr id="15" name="Shape 12"/>
          <p:cNvSpPr/>
          <p:nvPr/>
        </p:nvSpPr>
        <p:spPr>
          <a:xfrm>
            <a:off x="6583680" y="4023360"/>
            <a:ext cx="2194560" cy="82296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16" name="Text 13"/>
          <p:cNvSpPr/>
          <p:nvPr/>
        </p:nvSpPr>
        <p:spPr>
          <a:xfrm>
            <a:off x="6583680" y="4023360"/>
            <a:ext cx="21945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 Classes</a:t>
            </a:r>
            <a:endParaRPr lang="en-US" sz="1600" dirty="0"/>
          </a:p>
        </p:txBody>
      </p:sp>
      <p:sp>
        <p:nvSpPr>
          <p:cNvPr id="17" name="Text 4">
            <a:extLst>
              <a:ext uri="{FF2B5EF4-FFF2-40B4-BE49-F238E27FC236}">
                <a16:creationId xmlns:a16="http://schemas.microsoft.com/office/drawing/2014/main" id="{00BBF7D2-23E5-8CCF-D6A2-92A57044EC27}"/>
              </a:ext>
            </a:extLst>
          </p:cNvPr>
          <p:cNvSpPr/>
          <p:nvPr/>
        </p:nvSpPr>
        <p:spPr>
          <a:xfrm>
            <a:off x="640080" y="3670371"/>
            <a:ext cx="54864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Abdulrahman Bajunaid  ·  Faisal Alsulami  ·  Saad Alshahrani</a:t>
            </a:r>
          </a:p>
        </p:txBody>
      </p:sp>
      <p:pic>
        <p:nvPicPr>
          <p:cNvPr id="1026" name="Picture 2" descr="شعار أكاديمية طويق | شعارات المملكة">
            <a:extLst>
              <a:ext uri="{FF2B5EF4-FFF2-40B4-BE49-F238E27FC236}">
                <a16:creationId xmlns:a16="http://schemas.microsoft.com/office/drawing/2014/main" id="{EB241B14-80F8-4319-5613-287E08826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0514" y="3017520"/>
            <a:ext cx="1682166" cy="16821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indent="0">
              <a:buNone/>
            </a:pPr>
            <a:r>
              <a:rPr lang="en-US" sz="3200" b="1" dirty="0">
                <a:solidFill>
                  <a:srgbClr val="0F172A"/>
                </a:solidFill>
                <a:latin typeface="Georgia" pitchFamily="34" charset="0"/>
                <a:ea typeface="Georgia" pitchFamily="34" charset="-122"/>
                <a:cs typeface="Georgia" pitchFamily="34" charset="-120"/>
              </a:rPr>
              <a:t>Presentation Structure</a:t>
            </a:r>
            <a:endParaRPr lang="en-US" sz="3200" dirty="0"/>
          </a:p>
        </p:txBody>
      </p:sp>
      <p:sp>
        <p:nvSpPr>
          <p:cNvPr id="3" name="Text 1"/>
          <p:cNvSpPr/>
          <p:nvPr/>
        </p:nvSpPr>
        <p:spPr>
          <a:xfrm>
            <a:off x="640080" y="914400"/>
            <a:ext cx="7315200"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Three-part delivery across the team</a:t>
            </a:r>
            <a:endParaRPr lang="en-US" sz="1400" dirty="0"/>
          </a:p>
        </p:txBody>
      </p:sp>
      <p:sp>
        <p:nvSpPr>
          <p:cNvPr id="4" name="Shape 2"/>
          <p:cNvSpPr/>
          <p:nvPr/>
        </p:nvSpPr>
        <p:spPr>
          <a:xfrm>
            <a:off x="502920" y="1554480"/>
            <a:ext cx="2560320" cy="30175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5" name="Shape 3"/>
          <p:cNvSpPr/>
          <p:nvPr/>
        </p:nvSpPr>
        <p:spPr>
          <a:xfrm>
            <a:off x="502920" y="1554480"/>
            <a:ext cx="2560320" cy="54864"/>
          </a:xfrm>
          <a:prstGeom prst="rect">
            <a:avLst/>
          </a:prstGeom>
          <a:solidFill>
            <a:srgbClr val="0D9488"/>
          </a:solidFill>
          <a:ln/>
        </p:spPr>
        <p:txBody>
          <a:bodyPr/>
          <a:lstStyle/>
          <a:p>
            <a:endParaRPr lang="en-US"/>
          </a:p>
        </p:txBody>
      </p:sp>
      <p:sp>
        <p:nvSpPr>
          <p:cNvPr id="6" name="Shape 4"/>
          <p:cNvSpPr/>
          <p:nvPr/>
        </p:nvSpPr>
        <p:spPr>
          <a:xfrm>
            <a:off x="1371600" y="1828800"/>
            <a:ext cx="822960" cy="822960"/>
          </a:xfrm>
          <a:prstGeom prst="ellipse">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554480" y="2011680"/>
            <a:ext cx="457200" cy="457200"/>
          </a:xfrm>
          <a:prstGeom prst="rect">
            <a:avLst/>
          </a:prstGeom>
        </p:spPr>
      </p:pic>
      <p:sp>
        <p:nvSpPr>
          <p:cNvPr id="8" name="Text 5"/>
          <p:cNvSpPr/>
          <p:nvPr/>
        </p:nvSpPr>
        <p:spPr>
          <a:xfrm>
            <a:off x="685800" y="2834640"/>
            <a:ext cx="219456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PART 1</a:t>
            </a:r>
            <a:endParaRPr lang="en-US" sz="1100" dirty="0"/>
          </a:p>
        </p:txBody>
      </p:sp>
      <p:sp>
        <p:nvSpPr>
          <p:cNvPr id="9" name="Text 6"/>
          <p:cNvSpPr/>
          <p:nvPr/>
        </p:nvSpPr>
        <p:spPr>
          <a:xfrm>
            <a:off x="685800" y="3108960"/>
            <a:ext cx="2194560" cy="640080"/>
          </a:xfrm>
          <a:prstGeom prst="rect">
            <a:avLst/>
          </a:prstGeom>
          <a:noFill/>
          <a:ln/>
        </p:spPr>
        <p:txBody>
          <a:bodyPr wrap="square" lIns="0" tIns="0" rIns="0" bIns="0" rtlCol="0" anchor="ctr"/>
          <a:lstStyle/>
          <a:p>
            <a:pPr marL="0" indent="0" algn="ctr">
              <a:lnSpc>
                <a:spcPct val="105000"/>
              </a:lnSpc>
              <a:buNone/>
            </a:pPr>
            <a:r>
              <a:rPr lang="en-US" sz="1800" b="1" dirty="0">
                <a:solidFill>
                  <a:srgbClr val="0F172A"/>
                </a:solidFill>
                <a:latin typeface="Georgia" pitchFamily="34" charset="0"/>
                <a:ea typeface="Georgia" pitchFamily="34" charset="-122"/>
                <a:cs typeface="Georgia" pitchFamily="34" charset="-120"/>
              </a:rPr>
              <a:t>Algorithm</a:t>
            </a:r>
            <a:endParaRPr lang="en-US" sz="1800" dirty="0"/>
          </a:p>
          <a:p>
            <a:pPr marL="0" indent="0" algn="ctr">
              <a:lnSpc>
                <a:spcPct val="105000"/>
              </a:lnSpc>
              <a:buNone/>
            </a:pPr>
            <a:r>
              <a:rPr lang="en-US" sz="1800" b="1" dirty="0">
                <a:solidFill>
                  <a:srgbClr val="0F172A"/>
                </a:solidFill>
                <a:latin typeface="Georgia" pitchFamily="34" charset="0"/>
                <a:ea typeface="Georgia" pitchFamily="34" charset="-122"/>
                <a:cs typeface="Georgia" pitchFamily="34" charset="-120"/>
              </a:rPr>
              <a:t>Explanation</a:t>
            </a:r>
            <a:endParaRPr lang="en-US" sz="1800" dirty="0"/>
          </a:p>
        </p:txBody>
      </p:sp>
      <p:sp>
        <p:nvSpPr>
          <p:cNvPr id="10" name="Text 7"/>
          <p:cNvSpPr/>
          <p:nvPr/>
        </p:nvSpPr>
        <p:spPr>
          <a:xfrm>
            <a:off x="685800" y="3794760"/>
            <a:ext cx="2194560" cy="6400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Mathematical and statistical foundations of Gradient Boosting and XGBoost</a:t>
            </a:r>
            <a:endParaRPr lang="en-US" sz="1100" dirty="0"/>
          </a:p>
        </p:txBody>
      </p:sp>
      <p:sp>
        <p:nvSpPr>
          <p:cNvPr id="11" name="Shape 8"/>
          <p:cNvSpPr/>
          <p:nvPr/>
        </p:nvSpPr>
        <p:spPr>
          <a:xfrm>
            <a:off x="3337560" y="1554480"/>
            <a:ext cx="2560320" cy="30175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3337560" y="1554480"/>
            <a:ext cx="2560320" cy="54864"/>
          </a:xfrm>
          <a:prstGeom prst="rect">
            <a:avLst/>
          </a:prstGeom>
          <a:solidFill>
            <a:srgbClr val="14B8A6"/>
          </a:solidFill>
          <a:ln/>
        </p:spPr>
        <p:txBody>
          <a:bodyPr/>
          <a:lstStyle/>
          <a:p>
            <a:endParaRPr lang="en-US"/>
          </a:p>
        </p:txBody>
      </p:sp>
      <p:sp>
        <p:nvSpPr>
          <p:cNvPr id="13" name="Shape 10"/>
          <p:cNvSpPr/>
          <p:nvPr/>
        </p:nvSpPr>
        <p:spPr>
          <a:xfrm>
            <a:off x="4206240" y="1828800"/>
            <a:ext cx="822960" cy="822960"/>
          </a:xfrm>
          <a:prstGeom prst="ellipse">
            <a:avLst/>
          </a:prstGeom>
          <a:solidFill>
            <a:srgbClr val="14B8A6"/>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389120" y="2011680"/>
            <a:ext cx="457200" cy="457200"/>
          </a:xfrm>
          <a:prstGeom prst="rect">
            <a:avLst/>
          </a:prstGeom>
        </p:spPr>
      </p:pic>
      <p:sp>
        <p:nvSpPr>
          <p:cNvPr id="15" name="Text 11"/>
          <p:cNvSpPr/>
          <p:nvPr/>
        </p:nvSpPr>
        <p:spPr>
          <a:xfrm>
            <a:off x="3520440" y="2834640"/>
            <a:ext cx="219456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PART 2</a:t>
            </a:r>
            <a:endParaRPr lang="en-US" sz="1100" dirty="0"/>
          </a:p>
        </p:txBody>
      </p:sp>
      <p:sp>
        <p:nvSpPr>
          <p:cNvPr id="16" name="Text 12"/>
          <p:cNvSpPr/>
          <p:nvPr/>
        </p:nvSpPr>
        <p:spPr>
          <a:xfrm>
            <a:off x="3520440" y="3108960"/>
            <a:ext cx="2194560" cy="640080"/>
          </a:xfrm>
          <a:prstGeom prst="rect">
            <a:avLst/>
          </a:prstGeom>
          <a:noFill/>
          <a:ln/>
        </p:spPr>
        <p:txBody>
          <a:bodyPr wrap="square" lIns="0" tIns="0" rIns="0" bIns="0" rtlCol="0" anchor="ctr"/>
          <a:lstStyle/>
          <a:p>
            <a:pPr marL="0" indent="0" algn="ctr">
              <a:lnSpc>
                <a:spcPct val="105000"/>
              </a:lnSpc>
              <a:buNone/>
            </a:pPr>
            <a:r>
              <a:rPr lang="en-US" sz="1800" b="1" dirty="0">
                <a:solidFill>
                  <a:srgbClr val="0F172A"/>
                </a:solidFill>
                <a:latin typeface="Georgia" pitchFamily="34" charset="0"/>
                <a:ea typeface="Georgia" pitchFamily="34" charset="-122"/>
                <a:cs typeface="Georgia" pitchFamily="34" charset="-120"/>
              </a:rPr>
              <a:t>Data &amp;</a:t>
            </a:r>
            <a:endParaRPr lang="en-US" sz="1800" dirty="0"/>
          </a:p>
          <a:p>
            <a:pPr marL="0" indent="0" algn="ctr">
              <a:lnSpc>
                <a:spcPct val="105000"/>
              </a:lnSpc>
              <a:buNone/>
            </a:pPr>
            <a:r>
              <a:rPr lang="en-US" sz="1800" b="1" dirty="0">
                <a:solidFill>
                  <a:srgbClr val="0F172A"/>
                </a:solidFill>
                <a:latin typeface="Georgia" pitchFamily="34" charset="0"/>
                <a:ea typeface="Georgia" pitchFamily="34" charset="-122"/>
                <a:cs typeface="Georgia" pitchFamily="34" charset="-120"/>
              </a:rPr>
              <a:t>Exploration</a:t>
            </a:r>
            <a:endParaRPr lang="en-US" sz="1800" dirty="0"/>
          </a:p>
        </p:txBody>
      </p:sp>
      <p:sp>
        <p:nvSpPr>
          <p:cNvPr id="17" name="Text 13"/>
          <p:cNvSpPr/>
          <p:nvPr/>
        </p:nvSpPr>
        <p:spPr>
          <a:xfrm>
            <a:off x="3520440" y="3794760"/>
            <a:ext cx="2194560" cy="6400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Dataset overview, EDA visualizations, preprocessing pipeline</a:t>
            </a:r>
            <a:endParaRPr lang="en-US" sz="1100" dirty="0"/>
          </a:p>
        </p:txBody>
      </p:sp>
      <p:sp>
        <p:nvSpPr>
          <p:cNvPr id="18" name="Shape 14"/>
          <p:cNvSpPr/>
          <p:nvPr/>
        </p:nvSpPr>
        <p:spPr>
          <a:xfrm>
            <a:off x="6172200" y="1554480"/>
            <a:ext cx="2560320" cy="30175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9" name="Shape 15"/>
          <p:cNvSpPr/>
          <p:nvPr/>
        </p:nvSpPr>
        <p:spPr>
          <a:xfrm>
            <a:off x="6172200" y="1554480"/>
            <a:ext cx="2560320" cy="54864"/>
          </a:xfrm>
          <a:prstGeom prst="rect">
            <a:avLst/>
          </a:prstGeom>
          <a:solidFill>
            <a:srgbClr val="5EEAD4"/>
          </a:solidFill>
          <a:ln/>
        </p:spPr>
        <p:txBody>
          <a:bodyPr/>
          <a:lstStyle/>
          <a:p>
            <a:endParaRPr lang="en-US"/>
          </a:p>
        </p:txBody>
      </p:sp>
      <p:sp>
        <p:nvSpPr>
          <p:cNvPr id="20" name="Shape 16"/>
          <p:cNvSpPr/>
          <p:nvPr/>
        </p:nvSpPr>
        <p:spPr>
          <a:xfrm>
            <a:off x="7040880" y="1828800"/>
            <a:ext cx="822960" cy="822960"/>
          </a:xfrm>
          <a:prstGeom prst="ellipse">
            <a:avLst/>
          </a:prstGeom>
          <a:solidFill>
            <a:srgbClr val="5EEAD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7223760" y="2011680"/>
            <a:ext cx="457200" cy="457200"/>
          </a:xfrm>
          <a:prstGeom prst="rect">
            <a:avLst/>
          </a:prstGeom>
        </p:spPr>
      </p:pic>
      <p:sp>
        <p:nvSpPr>
          <p:cNvPr id="22" name="Text 17"/>
          <p:cNvSpPr/>
          <p:nvPr/>
        </p:nvSpPr>
        <p:spPr>
          <a:xfrm>
            <a:off x="6355080" y="2834640"/>
            <a:ext cx="219456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PART 3</a:t>
            </a:r>
            <a:endParaRPr lang="en-US" sz="1100" dirty="0"/>
          </a:p>
        </p:txBody>
      </p:sp>
      <p:sp>
        <p:nvSpPr>
          <p:cNvPr id="23" name="Text 18"/>
          <p:cNvSpPr/>
          <p:nvPr/>
        </p:nvSpPr>
        <p:spPr>
          <a:xfrm>
            <a:off x="6355080" y="3108960"/>
            <a:ext cx="2194560" cy="640080"/>
          </a:xfrm>
          <a:prstGeom prst="rect">
            <a:avLst/>
          </a:prstGeom>
          <a:noFill/>
          <a:ln/>
        </p:spPr>
        <p:txBody>
          <a:bodyPr wrap="square" lIns="0" tIns="0" rIns="0" bIns="0" rtlCol="0" anchor="ctr"/>
          <a:lstStyle/>
          <a:p>
            <a:pPr marL="0" indent="0" algn="ctr">
              <a:lnSpc>
                <a:spcPct val="105000"/>
              </a:lnSpc>
              <a:buNone/>
            </a:pPr>
            <a:r>
              <a:rPr lang="en-US" sz="1800" b="1" dirty="0">
                <a:solidFill>
                  <a:srgbClr val="0F172A"/>
                </a:solidFill>
                <a:latin typeface="Georgia" pitchFamily="34" charset="0"/>
                <a:ea typeface="Georgia" pitchFamily="34" charset="-122"/>
                <a:cs typeface="Georgia" pitchFamily="34" charset="-120"/>
              </a:rPr>
              <a:t>Evaluation</a:t>
            </a:r>
            <a:endParaRPr lang="en-US" sz="1800" dirty="0"/>
          </a:p>
          <a:p>
            <a:pPr marL="0" indent="0" algn="ctr">
              <a:lnSpc>
                <a:spcPct val="105000"/>
              </a:lnSpc>
              <a:buNone/>
            </a:pPr>
            <a:r>
              <a:rPr lang="en-US" sz="1800" b="1" dirty="0">
                <a:solidFill>
                  <a:srgbClr val="0F172A"/>
                </a:solidFill>
                <a:latin typeface="Georgia" pitchFamily="34" charset="0"/>
                <a:ea typeface="Georgia" pitchFamily="34" charset="-122"/>
                <a:cs typeface="Georgia" pitchFamily="34" charset="-120"/>
              </a:rPr>
              <a:t>Metrics</a:t>
            </a:r>
            <a:endParaRPr lang="en-US" sz="1800" dirty="0"/>
          </a:p>
        </p:txBody>
      </p:sp>
      <p:sp>
        <p:nvSpPr>
          <p:cNvPr id="24" name="Text 19"/>
          <p:cNvSpPr/>
          <p:nvPr/>
        </p:nvSpPr>
        <p:spPr>
          <a:xfrm>
            <a:off x="6355080" y="3794760"/>
            <a:ext cx="2194560" cy="6400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Model results, confusion matrices, comparison, and feature importance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txBody>
          <a:bodyPr/>
          <a:lstStyle/>
          <a:p>
            <a:endParaRPr lang="en-US"/>
          </a:p>
        </p:txBody>
      </p:sp>
      <p:sp>
        <p:nvSpPr>
          <p:cNvPr id="3" name="Text 1"/>
          <p:cNvSpPr/>
          <p:nvPr/>
        </p:nvSpPr>
        <p:spPr>
          <a:xfrm>
            <a:off x="640080" y="914400"/>
            <a:ext cx="1828800" cy="1097280"/>
          </a:xfrm>
          <a:prstGeom prst="rect">
            <a:avLst/>
          </a:prstGeom>
          <a:noFill/>
          <a:ln/>
        </p:spPr>
        <p:txBody>
          <a:bodyPr wrap="square" lIns="0" tIns="0" rIns="0" bIns="0" rtlCol="0" anchor="ctr"/>
          <a:lstStyle/>
          <a:p>
            <a:pPr marL="0" indent="0">
              <a:buNone/>
            </a:pPr>
            <a:r>
              <a:rPr lang="en-US" sz="7200" b="1" dirty="0">
                <a:solidFill>
                  <a:srgbClr val="0D9488"/>
                </a:solidFill>
                <a:latin typeface="Georgia" pitchFamily="34" charset="0"/>
                <a:ea typeface="Georgia" pitchFamily="34" charset="-122"/>
                <a:cs typeface="Georgia" pitchFamily="34" charset="-120"/>
              </a:rPr>
              <a:t>01</a:t>
            </a:r>
            <a:endParaRPr lang="en-US" sz="7200" dirty="0"/>
          </a:p>
        </p:txBody>
      </p:sp>
      <p:sp>
        <p:nvSpPr>
          <p:cNvPr id="4" name="Text 2"/>
          <p:cNvSpPr/>
          <p:nvPr/>
        </p:nvSpPr>
        <p:spPr>
          <a:xfrm>
            <a:off x="640080" y="2011680"/>
            <a:ext cx="4572000" cy="12801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Algorithm</a:t>
            </a:r>
            <a:endParaRPr lang="en-US" sz="3600" dirty="0"/>
          </a:p>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Explanation</a:t>
            </a:r>
            <a:endParaRPr lang="en-US" sz="3600" dirty="0"/>
          </a:p>
        </p:txBody>
      </p:sp>
      <p:sp>
        <p:nvSpPr>
          <p:cNvPr id="5" name="Text 3"/>
          <p:cNvSpPr/>
          <p:nvPr/>
        </p:nvSpPr>
        <p:spPr>
          <a:xfrm>
            <a:off x="640080" y="3383280"/>
            <a:ext cx="548640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Mathematical and statistical foundations of Gradient Boosting &amp; XGBoost</a:t>
            </a:r>
            <a:endParaRPr lang="en-US" sz="1400" dirty="0"/>
          </a:p>
        </p:txBody>
      </p:sp>
      <p:sp>
        <p:nvSpPr>
          <p:cNvPr id="6" name="Shape 4"/>
          <p:cNvSpPr/>
          <p:nvPr/>
        </p:nvSpPr>
        <p:spPr>
          <a:xfrm>
            <a:off x="7132320" y="1645920"/>
            <a:ext cx="1463040" cy="1463040"/>
          </a:xfrm>
          <a:prstGeom prst="ellipse">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452360" y="1965960"/>
            <a:ext cx="822960" cy="822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640080"/>
          </a:xfrm>
          <a:prstGeom prst="rect">
            <a:avLst/>
          </a:prstGeom>
          <a:noFill/>
          <a:ln/>
        </p:spPr>
        <p:txBody>
          <a:bodyPr wrap="square" lIns="0" tIns="0" rIns="0" bIns="0" rtlCol="0" anchor="ctr"/>
          <a:lstStyle/>
          <a:p>
            <a:pPr marL="0" indent="0">
              <a:buNone/>
            </a:pPr>
            <a:r>
              <a:rPr lang="en-US" sz="3000" b="1" dirty="0">
                <a:solidFill>
                  <a:srgbClr val="0F172A"/>
                </a:solidFill>
                <a:latin typeface="Georgia" pitchFamily="34" charset="0"/>
                <a:ea typeface="Georgia" pitchFamily="34" charset="-122"/>
                <a:cs typeface="Georgia" pitchFamily="34" charset="-120"/>
              </a:rPr>
              <a:t>What is Gradient Boosting?</a:t>
            </a:r>
            <a:endParaRPr lang="en-US" sz="3000" dirty="0"/>
          </a:p>
        </p:txBody>
      </p:sp>
      <p:sp>
        <p:nvSpPr>
          <p:cNvPr id="3" name="Shape 1"/>
          <p:cNvSpPr/>
          <p:nvPr/>
        </p:nvSpPr>
        <p:spPr>
          <a:xfrm>
            <a:off x="457200" y="1188720"/>
            <a:ext cx="4023360" cy="3474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Text 2"/>
          <p:cNvSpPr/>
          <p:nvPr/>
        </p:nvSpPr>
        <p:spPr>
          <a:xfrm>
            <a:off x="640080" y="1280160"/>
            <a:ext cx="3657600" cy="36576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Definition</a:t>
            </a:r>
            <a:endParaRPr lang="en-US" sz="1400" dirty="0"/>
          </a:p>
        </p:txBody>
      </p:sp>
      <p:sp>
        <p:nvSpPr>
          <p:cNvPr id="5" name="Text 3"/>
          <p:cNvSpPr/>
          <p:nvPr/>
        </p:nvSpPr>
        <p:spPr>
          <a:xfrm>
            <a:off x="640080" y="1691640"/>
            <a:ext cx="3657600" cy="1828800"/>
          </a:xfrm>
          <a:prstGeom prst="rect">
            <a:avLst/>
          </a:prstGeom>
          <a:noFill/>
          <a:ln/>
        </p:spPr>
        <p:txBody>
          <a:bodyPr wrap="square" lIns="0" tIns="0" rIns="0" bIns="0" rtlCol="0" anchor="ctr"/>
          <a:lstStyle/>
          <a:p>
            <a:pPr marL="0" indent="0">
              <a:lnSpc>
                <a:spcPct val="130000"/>
              </a:lnSpc>
              <a:buNone/>
            </a:pPr>
            <a:r>
              <a:rPr lang="en-US" sz="1300" dirty="0">
                <a:solidFill>
                  <a:srgbClr val="1E293B"/>
                </a:solidFill>
                <a:latin typeface="Calibri" pitchFamily="34" charset="0"/>
                <a:ea typeface="Calibri" pitchFamily="34" charset="-122"/>
                <a:cs typeface="Calibri" pitchFamily="34" charset="-120"/>
              </a:rPr>
              <a:t>Gradient Boosting is an ensemble learning method that combines many weak learners (typically shallow decision trees) sequentially. Each new tree is trained to correct the residual errors of the combined ensemble so far, using gradient descent on a loss function to guide improvement.</a:t>
            </a:r>
            <a:endParaRPr lang="en-US" sz="1300" dirty="0"/>
          </a:p>
        </p:txBody>
      </p:sp>
      <p:sp>
        <p:nvSpPr>
          <p:cNvPr id="6" name="Text 4"/>
          <p:cNvSpPr/>
          <p:nvPr/>
        </p:nvSpPr>
        <p:spPr>
          <a:xfrm>
            <a:off x="640080" y="3520440"/>
            <a:ext cx="3657600" cy="822960"/>
          </a:xfrm>
          <a:prstGeom prst="rect">
            <a:avLst/>
          </a:prstGeom>
          <a:noFill/>
          <a:ln/>
        </p:spPr>
        <p:txBody>
          <a:bodyPr wrap="square" lIns="0" tIns="0" rIns="0" bIns="0" rtlCol="0" anchor="ctr"/>
          <a:lstStyle/>
          <a:p>
            <a:pPr marL="0" indent="0">
              <a:lnSpc>
                <a:spcPct val="130000"/>
              </a:lnSpc>
              <a:buNone/>
            </a:pPr>
            <a:r>
              <a:rPr lang="en-US" sz="1200" i="1" dirty="0">
                <a:solidFill>
                  <a:srgbClr val="64748B"/>
                </a:solidFill>
                <a:latin typeface="Calibri" pitchFamily="34" charset="0"/>
                <a:ea typeface="Calibri" pitchFamily="34" charset="-122"/>
                <a:cs typeface="Calibri" pitchFamily="34" charset="-120"/>
              </a:rPr>
              <a:t>Unlike bagging (parallel trees), boosting builds trees one after another, each focusing on where the model currently fails.</a:t>
            </a:r>
            <a:endParaRPr lang="en-US" sz="1200" dirty="0"/>
          </a:p>
        </p:txBody>
      </p:sp>
      <p:sp>
        <p:nvSpPr>
          <p:cNvPr id="7" name="Shape 5"/>
          <p:cNvSpPr/>
          <p:nvPr/>
        </p:nvSpPr>
        <p:spPr>
          <a:xfrm>
            <a:off x="4754880" y="1188720"/>
            <a:ext cx="4023360" cy="3474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8" name="Text 6"/>
          <p:cNvSpPr/>
          <p:nvPr/>
        </p:nvSpPr>
        <p:spPr>
          <a:xfrm>
            <a:off x="4937760" y="1280160"/>
            <a:ext cx="3657600" cy="36576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Key Properties</a:t>
            </a:r>
            <a:endParaRPr lang="en-US" sz="1400" dirty="0"/>
          </a:p>
        </p:txBody>
      </p:sp>
      <p:pic>
        <p:nvPicPr>
          <p:cNvPr id="9" name="Image 0" descr="preencoded.png"/>
          <p:cNvPicPr>
            <a:picLocks noChangeAspect="1"/>
          </p:cNvPicPr>
          <p:nvPr/>
        </p:nvPicPr>
        <p:blipFill>
          <a:blip r:embed="rId3"/>
          <a:stretch>
            <a:fillRect/>
          </a:stretch>
        </p:blipFill>
        <p:spPr>
          <a:xfrm>
            <a:off x="4937760" y="1783080"/>
            <a:ext cx="274320" cy="274320"/>
          </a:xfrm>
          <a:prstGeom prst="rect">
            <a:avLst/>
          </a:prstGeom>
        </p:spPr>
      </p:pic>
      <p:sp>
        <p:nvSpPr>
          <p:cNvPr id="10" name="Text 7"/>
          <p:cNvSpPr/>
          <p:nvPr/>
        </p:nvSpPr>
        <p:spPr>
          <a:xfrm>
            <a:off x="5349240" y="1737360"/>
            <a:ext cx="320040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Sequential ensemble — trees are added one at a time</a:t>
            </a:r>
            <a:endParaRPr lang="en-US" sz="1200" dirty="0"/>
          </a:p>
        </p:txBody>
      </p:sp>
      <p:pic>
        <p:nvPicPr>
          <p:cNvPr id="11" name="Image 1" descr="preencoded.png"/>
          <p:cNvPicPr>
            <a:picLocks noChangeAspect="1"/>
          </p:cNvPicPr>
          <p:nvPr/>
        </p:nvPicPr>
        <p:blipFill>
          <a:blip r:embed="rId3"/>
          <a:stretch>
            <a:fillRect/>
          </a:stretch>
        </p:blipFill>
        <p:spPr>
          <a:xfrm>
            <a:off x="4937760" y="2331720"/>
            <a:ext cx="274320" cy="274320"/>
          </a:xfrm>
          <a:prstGeom prst="rect">
            <a:avLst/>
          </a:prstGeom>
        </p:spPr>
      </p:pic>
      <p:sp>
        <p:nvSpPr>
          <p:cNvPr id="12" name="Text 8"/>
          <p:cNvSpPr/>
          <p:nvPr/>
        </p:nvSpPr>
        <p:spPr>
          <a:xfrm>
            <a:off x="5349240" y="2286000"/>
            <a:ext cx="320040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Loss-driven — minimizes a differentiable loss function</a:t>
            </a:r>
            <a:endParaRPr lang="en-US" sz="1200" dirty="0"/>
          </a:p>
        </p:txBody>
      </p:sp>
      <p:pic>
        <p:nvPicPr>
          <p:cNvPr id="13" name="Image 2" descr="preencoded.png"/>
          <p:cNvPicPr>
            <a:picLocks noChangeAspect="1"/>
          </p:cNvPicPr>
          <p:nvPr/>
        </p:nvPicPr>
        <p:blipFill>
          <a:blip r:embed="rId3"/>
          <a:stretch>
            <a:fillRect/>
          </a:stretch>
        </p:blipFill>
        <p:spPr>
          <a:xfrm>
            <a:off x="4937760" y="2880360"/>
            <a:ext cx="274320" cy="274320"/>
          </a:xfrm>
          <a:prstGeom prst="rect">
            <a:avLst/>
          </a:prstGeom>
        </p:spPr>
      </p:pic>
      <p:sp>
        <p:nvSpPr>
          <p:cNvPr id="14" name="Text 9"/>
          <p:cNvSpPr/>
          <p:nvPr/>
        </p:nvSpPr>
        <p:spPr>
          <a:xfrm>
            <a:off x="5349240" y="2834640"/>
            <a:ext cx="320040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Additive model — final prediction is sum of all tree outputs</a:t>
            </a:r>
            <a:endParaRPr lang="en-US" sz="1200" dirty="0"/>
          </a:p>
        </p:txBody>
      </p:sp>
      <p:pic>
        <p:nvPicPr>
          <p:cNvPr id="15" name="Image 3" descr="preencoded.png"/>
          <p:cNvPicPr>
            <a:picLocks noChangeAspect="1"/>
          </p:cNvPicPr>
          <p:nvPr/>
        </p:nvPicPr>
        <p:blipFill>
          <a:blip r:embed="rId3"/>
          <a:stretch>
            <a:fillRect/>
          </a:stretch>
        </p:blipFill>
        <p:spPr>
          <a:xfrm>
            <a:off x="4937760" y="3429000"/>
            <a:ext cx="274320" cy="274320"/>
          </a:xfrm>
          <a:prstGeom prst="rect">
            <a:avLst/>
          </a:prstGeom>
        </p:spPr>
      </p:pic>
      <p:sp>
        <p:nvSpPr>
          <p:cNvPr id="16" name="Text 10"/>
          <p:cNvSpPr/>
          <p:nvPr/>
        </p:nvSpPr>
        <p:spPr>
          <a:xfrm>
            <a:off x="5349240" y="3383280"/>
            <a:ext cx="320040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Regularized — learning rate shrinks each tree's contribution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64008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How Gradient Boosting Works — The Math</a:t>
            </a:r>
            <a:endParaRPr lang="en-US" sz="2800" dirty="0"/>
          </a:p>
        </p:txBody>
      </p:sp>
      <p:sp>
        <p:nvSpPr>
          <p:cNvPr id="3" name="Shape 1"/>
          <p:cNvSpPr/>
          <p:nvPr/>
        </p:nvSpPr>
        <p:spPr>
          <a:xfrm>
            <a:off x="457200" y="1097280"/>
            <a:ext cx="8321040" cy="822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594360" y="1234440"/>
            <a:ext cx="548640" cy="548640"/>
          </a:xfrm>
          <a:prstGeom prst="ellipse">
            <a:avLst/>
          </a:prstGeom>
          <a:solidFill>
            <a:srgbClr val="0D9488"/>
          </a:solidFill>
          <a:ln/>
        </p:spPr>
        <p:txBody>
          <a:bodyPr/>
          <a:lstStyle/>
          <a:p>
            <a:endParaRPr lang="en-US"/>
          </a:p>
        </p:txBody>
      </p:sp>
      <p:sp>
        <p:nvSpPr>
          <p:cNvPr id="5" name="Text 3"/>
          <p:cNvSpPr/>
          <p:nvPr/>
        </p:nvSpPr>
        <p:spPr>
          <a:xfrm>
            <a:off x="594360" y="12344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325880" y="1143000"/>
            <a:ext cx="201168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Initialize Model</a:t>
            </a:r>
            <a:endParaRPr lang="en-US" sz="1400" dirty="0"/>
          </a:p>
        </p:txBody>
      </p:sp>
      <p:sp>
        <p:nvSpPr>
          <p:cNvPr id="7" name="Text 5"/>
          <p:cNvSpPr/>
          <p:nvPr/>
        </p:nvSpPr>
        <p:spPr>
          <a:xfrm>
            <a:off x="1325880" y="1508760"/>
            <a:ext cx="2286000" cy="32004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F₀(x) = argminₙ ΣL(yᵢ, γ)</a:t>
            </a:r>
            <a:endParaRPr lang="en-US" sz="1100" dirty="0"/>
          </a:p>
        </p:txBody>
      </p:sp>
      <p:sp>
        <p:nvSpPr>
          <p:cNvPr id="8" name="Text 6"/>
          <p:cNvSpPr/>
          <p:nvPr/>
        </p:nvSpPr>
        <p:spPr>
          <a:xfrm>
            <a:off x="3749040" y="1143000"/>
            <a:ext cx="4846320" cy="7315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Start with a constant prediction that minimizes the loss over all training samples.</a:t>
            </a:r>
            <a:endParaRPr lang="en-US" sz="1150" dirty="0"/>
          </a:p>
        </p:txBody>
      </p:sp>
      <p:sp>
        <p:nvSpPr>
          <p:cNvPr id="9" name="Shape 7"/>
          <p:cNvSpPr/>
          <p:nvPr/>
        </p:nvSpPr>
        <p:spPr>
          <a:xfrm>
            <a:off x="457200" y="2057400"/>
            <a:ext cx="8321040" cy="822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594360" y="2194560"/>
            <a:ext cx="548640" cy="548640"/>
          </a:xfrm>
          <a:prstGeom prst="ellipse">
            <a:avLst/>
          </a:prstGeom>
          <a:solidFill>
            <a:srgbClr val="0D9488"/>
          </a:solidFill>
          <a:ln/>
        </p:spPr>
        <p:txBody>
          <a:bodyPr/>
          <a:lstStyle/>
          <a:p>
            <a:endParaRPr lang="en-US"/>
          </a:p>
        </p:txBody>
      </p:sp>
      <p:sp>
        <p:nvSpPr>
          <p:cNvPr id="11" name="Text 9"/>
          <p:cNvSpPr/>
          <p:nvPr/>
        </p:nvSpPr>
        <p:spPr>
          <a:xfrm>
            <a:off x="594360" y="21945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2" name="Text 10"/>
          <p:cNvSpPr/>
          <p:nvPr/>
        </p:nvSpPr>
        <p:spPr>
          <a:xfrm>
            <a:off x="1325880" y="2103120"/>
            <a:ext cx="201168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Compute Residuals</a:t>
            </a:r>
            <a:endParaRPr lang="en-US" sz="1400" dirty="0"/>
          </a:p>
        </p:txBody>
      </p:sp>
      <p:sp>
        <p:nvSpPr>
          <p:cNvPr id="13" name="Text 11"/>
          <p:cNvSpPr/>
          <p:nvPr/>
        </p:nvSpPr>
        <p:spPr>
          <a:xfrm>
            <a:off x="1325880" y="2468880"/>
            <a:ext cx="2286000" cy="32004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rᵢₘ = −∂L(yᵢ, F(xᵢ)) / ∂F(xᵢ)</a:t>
            </a:r>
            <a:endParaRPr lang="en-US" sz="1100" dirty="0"/>
          </a:p>
        </p:txBody>
      </p:sp>
      <p:sp>
        <p:nvSpPr>
          <p:cNvPr id="14" name="Text 12"/>
          <p:cNvSpPr/>
          <p:nvPr/>
        </p:nvSpPr>
        <p:spPr>
          <a:xfrm>
            <a:off x="3749040" y="2103120"/>
            <a:ext cx="4846320" cy="7315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Calculate the negative gradient of the loss function — these pseudo-residuals tell each new tree where the current model is wrong.</a:t>
            </a:r>
            <a:endParaRPr lang="en-US" sz="1150" dirty="0"/>
          </a:p>
        </p:txBody>
      </p:sp>
      <p:sp>
        <p:nvSpPr>
          <p:cNvPr id="15" name="Shape 13"/>
          <p:cNvSpPr/>
          <p:nvPr/>
        </p:nvSpPr>
        <p:spPr>
          <a:xfrm>
            <a:off x="457200" y="3017520"/>
            <a:ext cx="8321040" cy="822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4"/>
          <p:cNvSpPr/>
          <p:nvPr/>
        </p:nvSpPr>
        <p:spPr>
          <a:xfrm>
            <a:off x="594360" y="3154680"/>
            <a:ext cx="548640" cy="548640"/>
          </a:xfrm>
          <a:prstGeom prst="ellipse">
            <a:avLst/>
          </a:prstGeom>
          <a:solidFill>
            <a:srgbClr val="0D9488"/>
          </a:solidFill>
          <a:ln/>
        </p:spPr>
        <p:txBody>
          <a:bodyPr/>
          <a:lstStyle/>
          <a:p>
            <a:endParaRPr lang="en-US"/>
          </a:p>
        </p:txBody>
      </p:sp>
      <p:sp>
        <p:nvSpPr>
          <p:cNvPr id="17" name="Text 15"/>
          <p:cNvSpPr/>
          <p:nvPr/>
        </p:nvSpPr>
        <p:spPr>
          <a:xfrm>
            <a:off x="594360" y="3154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1325880" y="3063240"/>
            <a:ext cx="201168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Fit a New Tree</a:t>
            </a:r>
            <a:endParaRPr lang="en-US" sz="1400" dirty="0"/>
          </a:p>
        </p:txBody>
      </p:sp>
      <p:sp>
        <p:nvSpPr>
          <p:cNvPr id="19" name="Text 17"/>
          <p:cNvSpPr/>
          <p:nvPr/>
        </p:nvSpPr>
        <p:spPr>
          <a:xfrm>
            <a:off x="1325880" y="3429000"/>
            <a:ext cx="2286000" cy="32004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hₘ(x) fitted to {(xᵢ, rᵢₘ)}</a:t>
            </a:r>
            <a:endParaRPr lang="en-US" sz="1100" dirty="0"/>
          </a:p>
        </p:txBody>
      </p:sp>
      <p:sp>
        <p:nvSpPr>
          <p:cNvPr id="20" name="Text 18"/>
          <p:cNvSpPr/>
          <p:nvPr/>
        </p:nvSpPr>
        <p:spPr>
          <a:xfrm>
            <a:off x="3749040" y="3063240"/>
            <a:ext cx="4846320" cy="7315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Train a shallow decision tree on the pseudo-residuals. The tree learns to predict the direction and magnitude of errors.</a:t>
            </a:r>
            <a:endParaRPr lang="en-US" sz="1150" dirty="0"/>
          </a:p>
        </p:txBody>
      </p:sp>
      <p:sp>
        <p:nvSpPr>
          <p:cNvPr id="21" name="Shape 19"/>
          <p:cNvSpPr/>
          <p:nvPr/>
        </p:nvSpPr>
        <p:spPr>
          <a:xfrm>
            <a:off x="457200" y="3977640"/>
            <a:ext cx="8321040" cy="8229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2" name="Shape 20"/>
          <p:cNvSpPr/>
          <p:nvPr/>
        </p:nvSpPr>
        <p:spPr>
          <a:xfrm>
            <a:off x="594360" y="4114800"/>
            <a:ext cx="548640" cy="548640"/>
          </a:xfrm>
          <a:prstGeom prst="ellipse">
            <a:avLst/>
          </a:prstGeom>
          <a:solidFill>
            <a:srgbClr val="0D9488"/>
          </a:solidFill>
          <a:ln/>
        </p:spPr>
        <p:txBody>
          <a:bodyPr/>
          <a:lstStyle/>
          <a:p>
            <a:endParaRPr lang="en-US"/>
          </a:p>
        </p:txBody>
      </p:sp>
      <p:sp>
        <p:nvSpPr>
          <p:cNvPr id="23" name="Text 21"/>
          <p:cNvSpPr/>
          <p:nvPr/>
        </p:nvSpPr>
        <p:spPr>
          <a:xfrm>
            <a:off x="594360" y="41148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4" name="Text 22"/>
          <p:cNvSpPr/>
          <p:nvPr/>
        </p:nvSpPr>
        <p:spPr>
          <a:xfrm>
            <a:off x="1325880" y="4023360"/>
            <a:ext cx="201168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Update Model</a:t>
            </a:r>
            <a:endParaRPr lang="en-US" sz="1400" dirty="0"/>
          </a:p>
        </p:txBody>
      </p:sp>
      <p:sp>
        <p:nvSpPr>
          <p:cNvPr id="25" name="Text 23"/>
          <p:cNvSpPr/>
          <p:nvPr/>
        </p:nvSpPr>
        <p:spPr>
          <a:xfrm>
            <a:off x="1325880" y="4389120"/>
            <a:ext cx="2286000" cy="32004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Fₘ(x) = Fₘ₋₁(x) + η · hₘ(x)</a:t>
            </a:r>
            <a:endParaRPr lang="en-US" sz="1100" dirty="0"/>
          </a:p>
        </p:txBody>
      </p:sp>
      <p:sp>
        <p:nvSpPr>
          <p:cNvPr id="26" name="Text 24"/>
          <p:cNvSpPr/>
          <p:nvPr/>
        </p:nvSpPr>
        <p:spPr>
          <a:xfrm>
            <a:off x="3749040" y="4023360"/>
            <a:ext cx="4846320" cy="7315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Add the new tree's predictions scaled by learning rate η to the ensemble. Repeat M times.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64008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XGBoost — Extreme Gradient Boosting</a:t>
            </a:r>
            <a:endParaRPr lang="en-US" sz="2800" dirty="0"/>
          </a:p>
        </p:txBody>
      </p:sp>
      <p:sp>
        <p:nvSpPr>
          <p:cNvPr id="3" name="Text 1"/>
          <p:cNvSpPr/>
          <p:nvPr/>
        </p:nvSpPr>
        <p:spPr>
          <a:xfrm>
            <a:off x="640080" y="960120"/>
            <a:ext cx="7772400" cy="5486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XGBoost extends Gradient Boosting with a regularized objective function and engineering optimizations that make it faster, more accurate, and more robust.</a:t>
            </a:r>
            <a:endParaRPr lang="en-US" sz="1300" dirty="0"/>
          </a:p>
        </p:txBody>
      </p:sp>
      <p:sp>
        <p:nvSpPr>
          <p:cNvPr id="4" name="Shape 2"/>
          <p:cNvSpPr/>
          <p:nvPr/>
        </p:nvSpPr>
        <p:spPr>
          <a:xfrm>
            <a:off x="457200" y="1645920"/>
            <a:ext cx="8321040" cy="1097280"/>
          </a:xfrm>
          <a:prstGeom prst="rect">
            <a:avLst/>
          </a:prstGeom>
          <a:solidFill>
            <a:srgbClr val="0F172A"/>
          </a:solidFill>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640080" y="1691640"/>
            <a:ext cx="3657600" cy="320040"/>
          </a:xfrm>
          <a:prstGeom prst="rect">
            <a:avLst/>
          </a:prstGeom>
          <a:noFill/>
          <a:ln/>
        </p:spPr>
        <p:txBody>
          <a:bodyPr wrap="square" lIns="0" tIns="0" rIns="0" bIns="0" rtlCol="0" anchor="ctr"/>
          <a:lstStyle/>
          <a:p>
            <a:pPr marL="0" indent="0">
              <a:buNone/>
            </a:pPr>
            <a:r>
              <a:rPr lang="en-US" sz="1300" b="1" dirty="0">
                <a:solidFill>
                  <a:srgbClr val="5EEAD4"/>
                </a:solidFill>
                <a:latin typeface="Calibri" pitchFamily="34" charset="0"/>
                <a:ea typeface="Calibri" pitchFamily="34" charset="-122"/>
                <a:cs typeface="Calibri" pitchFamily="34" charset="-120"/>
              </a:rPr>
              <a:t>Regularized Objective Function</a:t>
            </a:r>
            <a:endParaRPr lang="en-US" sz="1300" dirty="0"/>
          </a:p>
        </p:txBody>
      </p:sp>
      <p:sp>
        <p:nvSpPr>
          <p:cNvPr id="6" name="Text 4"/>
          <p:cNvSpPr/>
          <p:nvPr/>
        </p:nvSpPr>
        <p:spPr>
          <a:xfrm>
            <a:off x="640080" y="2011680"/>
            <a:ext cx="4572000" cy="365760"/>
          </a:xfrm>
          <a:prstGeom prst="rect">
            <a:avLst/>
          </a:prstGeom>
          <a:noFill/>
          <a:ln/>
        </p:spPr>
        <p:txBody>
          <a:bodyPr wrap="square" lIns="0" tIns="0" rIns="0" bIns="0" rtlCol="0" anchor="ctr"/>
          <a:lstStyle/>
          <a:p>
            <a:pPr marL="0" indent="0">
              <a:buNone/>
            </a:pPr>
            <a:r>
              <a:rPr lang="en-US" sz="1600" dirty="0">
                <a:solidFill>
                  <a:srgbClr val="FFFFFF"/>
                </a:solidFill>
                <a:latin typeface="Consolas" pitchFamily="34" charset="0"/>
                <a:ea typeface="Consolas" pitchFamily="34" charset="-122"/>
                <a:cs typeface="Consolas" pitchFamily="34" charset="-120"/>
              </a:rPr>
              <a:t>Obj = ΣL(yᵢ, ŷᵢ) + Σ[γT + ½λw²]</a:t>
            </a:r>
            <a:endParaRPr lang="en-US" sz="1600" dirty="0"/>
          </a:p>
        </p:txBody>
      </p:sp>
      <p:sp>
        <p:nvSpPr>
          <p:cNvPr id="7" name="Text 5"/>
          <p:cNvSpPr/>
          <p:nvPr/>
        </p:nvSpPr>
        <p:spPr>
          <a:xfrm>
            <a:off x="640080" y="2377440"/>
            <a:ext cx="777240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Loss term drives accuracy   |   Regularization term (γT + λw²) penalizes tree complexity to prevent overfitting</a:t>
            </a:r>
            <a:endParaRPr lang="en-US" sz="1100" dirty="0"/>
          </a:p>
        </p:txBody>
      </p:sp>
      <p:sp>
        <p:nvSpPr>
          <p:cNvPr id="8" name="Shape 6"/>
          <p:cNvSpPr/>
          <p:nvPr/>
        </p:nvSpPr>
        <p:spPr>
          <a:xfrm>
            <a:off x="457200" y="3017520"/>
            <a:ext cx="39776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594360" y="3246120"/>
            <a:ext cx="365760" cy="365760"/>
          </a:xfrm>
          <a:prstGeom prst="rect">
            <a:avLst/>
          </a:prstGeom>
        </p:spPr>
      </p:pic>
      <p:sp>
        <p:nvSpPr>
          <p:cNvPr id="10" name="Text 7"/>
          <p:cNvSpPr/>
          <p:nvPr/>
        </p:nvSpPr>
        <p:spPr>
          <a:xfrm>
            <a:off x="1097280" y="3090672"/>
            <a:ext cx="320040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Second-Order Gradients</a:t>
            </a:r>
            <a:endParaRPr lang="en-US" sz="1300" dirty="0"/>
          </a:p>
        </p:txBody>
      </p:sp>
      <p:sp>
        <p:nvSpPr>
          <p:cNvPr id="11" name="Text 8"/>
          <p:cNvSpPr/>
          <p:nvPr/>
        </p:nvSpPr>
        <p:spPr>
          <a:xfrm>
            <a:off x="1097280" y="3429000"/>
            <a:ext cx="320040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Uses both first and second derivatives (Hessian) for more precise split finding</a:t>
            </a:r>
            <a:endParaRPr lang="en-US" sz="1100" dirty="0"/>
          </a:p>
        </p:txBody>
      </p:sp>
      <p:sp>
        <p:nvSpPr>
          <p:cNvPr id="12" name="Shape 9"/>
          <p:cNvSpPr/>
          <p:nvPr/>
        </p:nvSpPr>
        <p:spPr>
          <a:xfrm>
            <a:off x="4663440" y="3017520"/>
            <a:ext cx="39776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pic>
        <p:nvPicPr>
          <p:cNvPr id="13" name="Image 1" descr="preencoded.png"/>
          <p:cNvPicPr>
            <a:picLocks noChangeAspect="1"/>
          </p:cNvPicPr>
          <p:nvPr/>
        </p:nvPicPr>
        <p:blipFill>
          <a:blip r:embed="rId3"/>
          <a:stretch>
            <a:fillRect/>
          </a:stretch>
        </p:blipFill>
        <p:spPr>
          <a:xfrm>
            <a:off x="4800600" y="3246120"/>
            <a:ext cx="365760" cy="365760"/>
          </a:xfrm>
          <a:prstGeom prst="rect">
            <a:avLst/>
          </a:prstGeom>
        </p:spPr>
      </p:pic>
      <p:sp>
        <p:nvSpPr>
          <p:cNvPr id="14" name="Text 10"/>
          <p:cNvSpPr/>
          <p:nvPr/>
        </p:nvSpPr>
        <p:spPr>
          <a:xfrm>
            <a:off x="5303520" y="3090672"/>
            <a:ext cx="320040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Column Subsampling</a:t>
            </a:r>
            <a:endParaRPr lang="en-US" sz="1300" dirty="0"/>
          </a:p>
        </p:txBody>
      </p:sp>
      <p:sp>
        <p:nvSpPr>
          <p:cNvPr id="15" name="Text 11"/>
          <p:cNvSpPr/>
          <p:nvPr/>
        </p:nvSpPr>
        <p:spPr>
          <a:xfrm>
            <a:off x="5303520" y="3429000"/>
            <a:ext cx="320040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Randomly selects features per tree and per level, reducing overfitting</a:t>
            </a:r>
            <a:endParaRPr lang="en-US" sz="1100" dirty="0"/>
          </a:p>
        </p:txBody>
      </p:sp>
      <p:sp>
        <p:nvSpPr>
          <p:cNvPr id="16" name="Shape 12"/>
          <p:cNvSpPr/>
          <p:nvPr/>
        </p:nvSpPr>
        <p:spPr>
          <a:xfrm>
            <a:off x="457200" y="4069080"/>
            <a:ext cx="39776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pic>
        <p:nvPicPr>
          <p:cNvPr id="17" name="Image 2" descr="preencoded.png"/>
          <p:cNvPicPr>
            <a:picLocks noChangeAspect="1"/>
          </p:cNvPicPr>
          <p:nvPr/>
        </p:nvPicPr>
        <p:blipFill>
          <a:blip r:embed="rId3"/>
          <a:stretch>
            <a:fillRect/>
          </a:stretch>
        </p:blipFill>
        <p:spPr>
          <a:xfrm>
            <a:off x="594360" y="4297680"/>
            <a:ext cx="365760" cy="365760"/>
          </a:xfrm>
          <a:prstGeom prst="rect">
            <a:avLst/>
          </a:prstGeom>
        </p:spPr>
      </p:pic>
      <p:sp>
        <p:nvSpPr>
          <p:cNvPr id="18" name="Text 13"/>
          <p:cNvSpPr/>
          <p:nvPr/>
        </p:nvSpPr>
        <p:spPr>
          <a:xfrm>
            <a:off x="1097280" y="4142232"/>
            <a:ext cx="320040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Sparsity-Aware Splits</a:t>
            </a:r>
            <a:endParaRPr lang="en-US" sz="1300" dirty="0"/>
          </a:p>
        </p:txBody>
      </p:sp>
      <p:sp>
        <p:nvSpPr>
          <p:cNvPr id="19" name="Text 14"/>
          <p:cNvSpPr/>
          <p:nvPr/>
        </p:nvSpPr>
        <p:spPr>
          <a:xfrm>
            <a:off x="1097280" y="4480560"/>
            <a:ext cx="320040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Natively handles missing values by learning optimal default split directions</a:t>
            </a:r>
            <a:endParaRPr lang="en-US" sz="1100" dirty="0"/>
          </a:p>
        </p:txBody>
      </p:sp>
      <p:sp>
        <p:nvSpPr>
          <p:cNvPr id="20" name="Shape 15"/>
          <p:cNvSpPr/>
          <p:nvPr/>
        </p:nvSpPr>
        <p:spPr>
          <a:xfrm>
            <a:off x="4663440" y="4069080"/>
            <a:ext cx="39776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pic>
        <p:nvPicPr>
          <p:cNvPr id="21" name="Image 3" descr="preencoded.png"/>
          <p:cNvPicPr>
            <a:picLocks noChangeAspect="1"/>
          </p:cNvPicPr>
          <p:nvPr/>
        </p:nvPicPr>
        <p:blipFill>
          <a:blip r:embed="rId3"/>
          <a:stretch>
            <a:fillRect/>
          </a:stretch>
        </p:blipFill>
        <p:spPr>
          <a:xfrm>
            <a:off x="4800600" y="4297680"/>
            <a:ext cx="365760" cy="365760"/>
          </a:xfrm>
          <a:prstGeom prst="rect">
            <a:avLst/>
          </a:prstGeom>
        </p:spPr>
      </p:pic>
      <p:sp>
        <p:nvSpPr>
          <p:cNvPr id="22" name="Text 16"/>
          <p:cNvSpPr/>
          <p:nvPr/>
        </p:nvSpPr>
        <p:spPr>
          <a:xfrm>
            <a:off x="5303520" y="4142232"/>
            <a:ext cx="320040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Weighted Quantile Sketch</a:t>
            </a:r>
            <a:endParaRPr lang="en-US" sz="1300" dirty="0"/>
          </a:p>
        </p:txBody>
      </p:sp>
      <p:sp>
        <p:nvSpPr>
          <p:cNvPr id="23" name="Text 17"/>
          <p:cNvSpPr/>
          <p:nvPr/>
        </p:nvSpPr>
        <p:spPr>
          <a:xfrm>
            <a:off x="5303520" y="4480560"/>
            <a:ext cx="320040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Approximate split finding for scalability on large datasets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When to Use  |  Advantages  |  Limitations</a:t>
            </a:r>
            <a:endParaRPr lang="en-US" sz="2600" dirty="0"/>
          </a:p>
        </p:txBody>
      </p:sp>
      <p:sp>
        <p:nvSpPr>
          <p:cNvPr id="3" name="Shape 1"/>
          <p:cNvSpPr/>
          <p:nvPr/>
        </p:nvSpPr>
        <p:spPr>
          <a:xfrm>
            <a:off x="365760" y="1005840"/>
            <a:ext cx="2743200" cy="3749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365760" y="1005840"/>
            <a:ext cx="2743200" cy="54864"/>
          </a:xfrm>
          <a:prstGeom prst="rect">
            <a:avLst/>
          </a:prstGeom>
          <a:solidFill>
            <a:srgbClr val="0D9488"/>
          </a:solidFill>
          <a:ln/>
        </p:spPr>
        <p:txBody>
          <a:bodyPr/>
          <a:lstStyle/>
          <a:p>
            <a:endParaRPr lang="en-US"/>
          </a:p>
        </p:txBody>
      </p:sp>
      <p:sp>
        <p:nvSpPr>
          <p:cNvPr id="5" name="Text 3"/>
          <p:cNvSpPr/>
          <p:nvPr/>
        </p:nvSpPr>
        <p:spPr>
          <a:xfrm>
            <a:off x="548640" y="1188720"/>
            <a:ext cx="2377440" cy="36576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WHEN TO USE</a:t>
            </a:r>
            <a:endParaRPr lang="en-US" sz="1200" dirty="0"/>
          </a:p>
        </p:txBody>
      </p:sp>
      <p:sp>
        <p:nvSpPr>
          <p:cNvPr id="6" name="Text 4"/>
          <p:cNvSpPr/>
          <p:nvPr/>
        </p:nvSpPr>
        <p:spPr>
          <a:xfrm>
            <a:off x="548640" y="1645920"/>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Multi-class classification tasks</a:t>
            </a:r>
            <a:endParaRPr lang="en-US" sz="1150" dirty="0"/>
          </a:p>
        </p:txBody>
      </p:sp>
      <p:sp>
        <p:nvSpPr>
          <p:cNvPr id="7" name="Text 5"/>
          <p:cNvSpPr/>
          <p:nvPr/>
        </p:nvSpPr>
        <p:spPr>
          <a:xfrm>
            <a:off x="548640" y="2048256"/>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Structured/tabular datasets</a:t>
            </a:r>
            <a:endParaRPr lang="en-US" sz="1150" dirty="0"/>
          </a:p>
        </p:txBody>
      </p:sp>
      <p:sp>
        <p:nvSpPr>
          <p:cNvPr id="8" name="Text 6"/>
          <p:cNvSpPr/>
          <p:nvPr/>
        </p:nvSpPr>
        <p:spPr>
          <a:xfrm>
            <a:off x="548640" y="2450592"/>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When high accuracy is priority</a:t>
            </a:r>
            <a:endParaRPr lang="en-US" sz="1150" dirty="0"/>
          </a:p>
        </p:txBody>
      </p:sp>
      <p:sp>
        <p:nvSpPr>
          <p:cNvPr id="9" name="Text 7"/>
          <p:cNvSpPr/>
          <p:nvPr/>
        </p:nvSpPr>
        <p:spPr>
          <a:xfrm>
            <a:off x="548640" y="2852928"/>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Imbalanced class distributions</a:t>
            </a:r>
            <a:endParaRPr lang="en-US" sz="1150" dirty="0"/>
          </a:p>
        </p:txBody>
      </p:sp>
      <p:sp>
        <p:nvSpPr>
          <p:cNvPr id="10" name="Text 8"/>
          <p:cNvSpPr/>
          <p:nvPr/>
        </p:nvSpPr>
        <p:spPr>
          <a:xfrm>
            <a:off x="548640" y="3255264"/>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Complex feature interactions exist</a:t>
            </a:r>
            <a:endParaRPr lang="en-US" sz="1150" dirty="0"/>
          </a:p>
        </p:txBody>
      </p:sp>
      <p:sp>
        <p:nvSpPr>
          <p:cNvPr id="11" name="Shape 9"/>
          <p:cNvSpPr/>
          <p:nvPr/>
        </p:nvSpPr>
        <p:spPr>
          <a:xfrm>
            <a:off x="3246120" y="1005840"/>
            <a:ext cx="2743200" cy="3749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10"/>
          <p:cNvSpPr/>
          <p:nvPr/>
        </p:nvSpPr>
        <p:spPr>
          <a:xfrm>
            <a:off x="3246120" y="1005840"/>
            <a:ext cx="2743200" cy="54864"/>
          </a:xfrm>
          <a:prstGeom prst="rect">
            <a:avLst/>
          </a:prstGeom>
          <a:solidFill>
            <a:srgbClr val="22C55E"/>
          </a:solidFill>
          <a:ln/>
        </p:spPr>
        <p:txBody>
          <a:bodyPr/>
          <a:lstStyle/>
          <a:p>
            <a:endParaRPr lang="en-US"/>
          </a:p>
        </p:txBody>
      </p:sp>
      <p:sp>
        <p:nvSpPr>
          <p:cNvPr id="13" name="Text 11"/>
          <p:cNvSpPr/>
          <p:nvPr/>
        </p:nvSpPr>
        <p:spPr>
          <a:xfrm>
            <a:off x="3429000" y="1188720"/>
            <a:ext cx="2377440" cy="365760"/>
          </a:xfrm>
          <a:prstGeom prst="rect">
            <a:avLst/>
          </a:prstGeom>
          <a:noFill/>
          <a:ln/>
        </p:spPr>
        <p:txBody>
          <a:bodyPr wrap="square" lIns="0" tIns="0" rIns="0" bIns="0" rtlCol="0" anchor="ctr"/>
          <a:lstStyle/>
          <a:p>
            <a:pPr marL="0" indent="0">
              <a:buNone/>
            </a:pPr>
            <a:r>
              <a:rPr lang="en-US" sz="1200" b="1" dirty="0">
                <a:solidFill>
                  <a:srgbClr val="22C55E"/>
                </a:solidFill>
                <a:latin typeface="Calibri" pitchFamily="34" charset="0"/>
                <a:ea typeface="Calibri" pitchFamily="34" charset="-122"/>
                <a:cs typeface="Calibri" pitchFamily="34" charset="-120"/>
              </a:rPr>
              <a:t>ADVANTAGES</a:t>
            </a:r>
            <a:endParaRPr lang="en-US" sz="1200" dirty="0"/>
          </a:p>
        </p:txBody>
      </p:sp>
      <p:sp>
        <p:nvSpPr>
          <p:cNvPr id="14" name="Text 12"/>
          <p:cNvSpPr/>
          <p:nvPr/>
        </p:nvSpPr>
        <p:spPr>
          <a:xfrm>
            <a:off x="3429000" y="1645920"/>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Handles non-linear relationships</a:t>
            </a:r>
            <a:endParaRPr lang="en-US" sz="1150" dirty="0"/>
          </a:p>
        </p:txBody>
      </p:sp>
      <p:sp>
        <p:nvSpPr>
          <p:cNvPr id="15" name="Text 13"/>
          <p:cNvSpPr/>
          <p:nvPr/>
        </p:nvSpPr>
        <p:spPr>
          <a:xfrm>
            <a:off x="3429000" y="2048256"/>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Built-in feature importance</a:t>
            </a:r>
            <a:endParaRPr lang="en-US" sz="1150" dirty="0"/>
          </a:p>
        </p:txBody>
      </p:sp>
      <p:sp>
        <p:nvSpPr>
          <p:cNvPr id="16" name="Text 14"/>
          <p:cNvSpPr/>
          <p:nvPr/>
        </p:nvSpPr>
        <p:spPr>
          <a:xfrm>
            <a:off x="3429000" y="2450592"/>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Robust to outliers and noise</a:t>
            </a:r>
            <a:endParaRPr lang="en-US" sz="1150" dirty="0"/>
          </a:p>
        </p:txBody>
      </p:sp>
      <p:sp>
        <p:nvSpPr>
          <p:cNvPr id="17" name="Text 15"/>
          <p:cNvSpPr/>
          <p:nvPr/>
        </p:nvSpPr>
        <p:spPr>
          <a:xfrm>
            <a:off x="3429000" y="2852928"/>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Supports class weighting</a:t>
            </a:r>
            <a:endParaRPr lang="en-US" sz="1150" dirty="0"/>
          </a:p>
        </p:txBody>
      </p:sp>
      <p:sp>
        <p:nvSpPr>
          <p:cNvPr id="18" name="Text 16"/>
          <p:cNvSpPr/>
          <p:nvPr/>
        </p:nvSpPr>
        <p:spPr>
          <a:xfrm>
            <a:off x="3429000" y="3255264"/>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Strong generalization ability</a:t>
            </a:r>
            <a:endParaRPr lang="en-US" sz="1150" dirty="0"/>
          </a:p>
        </p:txBody>
      </p:sp>
      <p:sp>
        <p:nvSpPr>
          <p:cNvPr id="19" name="Shape 17"/>
          <p:cNvSpPr/>
          <p:nvPr/>
        </p:nvSpPr>
        <p:spPr>
          <a:xfrm>
            <a:off x="6126480" y="1005840"/>
            <a:ext cx="2743200" cy="3749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8"/>
          <p:cNvSpPr/>
          <p:nvPr/>
        </p:nvSpPr>
        <p:spPr>
          <a:xfrm>
            <a:off x="6126480" y="1005840"/>
            <a:ext cx="2743200" cy="54864"/>
          </a:xfrm>
          <a:prstGeom prst="rect">
            <a:avLst/>
          </a:prstGeom>
          <a:solidFill>
            <a:srgbClr val="F97316"/>
          </a:solidFill>
          <a:ln/>
        </p:spPr>
        <p:txBody>
          <a:bodyPr/>
          <a:lstStyle/>
          <a:p>
            <a:endParaRPr lang="en-US"/>
          </a:p>
        </p:txBody>
      </p:sp>
      <p:sp>
        <p:nvSpPr>
          <p:cNvPr id="21" name="Text 19"/>
          <p:cNvSpPr/>
          <p:nvPr/>
        </p:nvSpPr>
        <p:spPr>
          <a:xfrm>
            <a:off x="6309360" y="1188720"/>
            <a:ext cx="2377440" cy="365760"/>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LIMITATIONS</a:t>
            </a:r>
            <a:endParaRPr lang="en-US" sz="1200" dirty="0"/>
          </a:p>
        </p:txBody>
      </p:sp>
      <p:sp>
        <p:nvSpPr>
          <p:cNvPr id="22" name="Text 20"/>
          <p:cNvSpPr/>
          <p:nvPr/>
        </p:nvSpPr>
        <p:spPr>
          <a:xfrm>
            <a:off x="6309360" y="1645920"/>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Prone to overfitting if untuned</a:t>
            </a:r>
            <a:endParaRPr lang="en-US" sz="1150" dirty="0"/>
          </a:p>
        </p:txBody>
      </p:sp>
      <p:sp>
        <p:nvSpPr>
          <p:cNvPr id="23" name="Text 21"/>
          <p:cNvSpPr/>
          <p:nvPr/>
        </p:nvSpPr>
        <p:spPr>
          <a:xfrm>
            <a:off x="6309360" y="2048256"/>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Slower training than simple models</a:t>
            </a:r>
            <a:endParaRPr lang="en-US" sz="1150" dirty="0"/>
          </a:p>
        </p:txBody>
      </p:sp>
      <p:sp>
        <p:nvSpPr>
          <p:cNvPr id="24" name="Text 22"/>
          <p:cNvSpPr/>
          <p:nvPr/>
        </p:nvSpPr>
        <p:spPr>
          <a:xfrm>
            <a:off x="6309360" y="2450592"/>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Sensitive to hyperparameters</a:t>
            </a:r>
            <a:endParaRPr lang="en-US" sz="1150" dirty="0"/>
          </a:p>
        </p:txBody>
      </p:sp>
      <p:sp>
        <p:nvSpPr>
          <p:cNvPr id="25" name="Text 23"/>
          <p:cNvSpPr/>
          <p:nvPr/>
        </p:nvSpPr>
        <p:spPr>
          <a:xfrm>
            <a:off x="6309360" y="2852928"/>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Less interpretable than trees</a:t>
            </a:r>
            <a:endParaRPr lang="en-US" sz="1150" dirty="0"/>
          </a:p>
        </p:txBody>
      </p:sp>
      <p:sp>
        <p:nvSpPr>
          <p:cNvPr id="26" name="Text 24"/>
          <p:cNvSpPr/>
          <p:nvPr/>
        </p:nvSpPr>
        <p:spPr>
          <a:xfrm>
            <a:off x="6309360" y="3255264"/>
            <a:ext cx="237744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Requires careful regularization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4B8A6"/>
          </a:solidFill>
          <a:ln/>
        </p:spPr>
        <p:txBody>
          <a:bodyPr/>
          <a:lstStyle/>
          <a:p>
            <a:endParaRPr lang="en-US"/>
          </a:p>
        </p:txBody>
      </p:sp>
      <p:sp>
        <p:nvSpPr>
          <p:cNvPr id="3" name="Text 1"/>
          <p:cNvSpPr/>
          <p:nvPr/>
        </p:nvSpPr>
        <p:spPr>
          <a:xfrm>
            <a:off x="640080" y="914400"/>
            <a:ext cx="1828800" cy="1097280"/>
          </a:xfrm>
          <a:prstGeom prst="rect">
            <a:avLst/>
          </a:prstGeom>
          <a:noFill/>
          <a:ln/>
        </p:spPr>
        <p:txBody>
          <a:bodyPr wrap="square" lIns="0" tIns="0" rIns="0" bIns="0" rtlCol="0" anchor="ctr"/>
          <a:lstStyle/>
          <a:p>
            <a:pPr marL="0" indent="0">
              <a:buNone/>
            </a:pPr>
            <a:r>
              <a:rPr lang="en-US" sz="7200" b="1" dirty="0">
                <a:solidFill>
                  <a:srgbClr val="14B8A6"/>
                </a:solidFill>
                <a:latin typeface="Georgia" pitchFamily="34" charset="0"/>
                <a:ea typeface="Georgia" pitchFamily="34" charset="-122"/>
                <a:cs typeface="Georgia" pitchFamily="34" charset="-120"/>
              </a:rPr>
              <a:t>02</a:t>
            </a:r>
            <a:endParaRPr lang="en-US" sz="7200" dirty="0"/>
          </a:p>
        </p:txBody>
      </p:sp>
      <p:sp>
        <p:nvSpPr>
          <p:cNvPr id="4" name="Text 2"/>
          <p:cNvSpPr/>
          <p:nvPr/>
        </p:nvSpPr>
        <p:spPr>
          <a:xfrm>
            <a:off x="640080" y="2011680"/>
            <a:ext cx="4572000" cy="12801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Dataset &amp;</a:t>
            </a:r>
            <a:endParaRPr lang="en-US" sz="3600" dirty="0"/>
          </a:p>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Exploration</a:t>
            </a:r>
            <a:endParaRPr lang="en-US" sz="3600" dirty="0"/>
          </a:p>
        </p:txBody>
      </p:sp>
      <p:sp>
        <p:nvSpPr>
          <p:cNvPr id="5" name="Text 3"/>
          <p:cNvSpPr/>
          <p:nvPr/>
        </p:nvSpPr>
        <p:spPr>
          <a:xfrm>
            <a:off x="640080" y="3383280"/>
            <a:ext cx="548640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Understanding the Gaming and Mental Health dataset through EDA</a:t>
            </a:r>
            <a:endParaRPr lang="en-US" sz="1400" dirty="0"/>
          </a:p>
        </p:txBody>
      </p:sp>
      <p:sp>
        <p:nvSpPr>
          <p:cNvPr id="6" name="Shape 4"/>
          <p:cNvSpPr/>
          <p:nvPr/>
        </p:nvSpPr>
        <p:spPr>
          <a:xfrm>
            <a:off x="7132320" y="1645920"/>
            <a:ext cx="1463040" cy="1463040"/>
          </a:xfrm>
          <a:prstGeom prst="ellipse">
            <a:avLst/>
          </a:prstGeom>
          <a:solidFill>
            <a:srgbClr val="14B8A6"/>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452360" y="1965960"/>
            <a:ext cx="822960" cy="822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Dataset Structure &amp; Features</a:t>
            </a:r>
            <a:endParaRPr lang="en-US" sz="2800" dirty="0"/>
          </a:p>
        </p:txBody>
      </p:sp>
      <p:sp>
        <p:nvSpPr>
          <p:cNvPr id="3" name="Shape 1"/>
          <p:cNvSpPr/>
          <p:nvPr/>
        </p:nvSpPr>
        <p:spPr>
          <a:xfrm>
            <a:off x="457200" y="1005840"/>
            <a:ext cx="19202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Text 2"/>
          <p:cNvSpPr/>
          <p:nvPr/>
        </p:nvSpPr>
        <p:spPr>
          <a:xfrm>
            <a:off x="457200" y="1024128"/>
            <a:ext cx="1920240" cy="548640"/>
          </a:xfrm>
          <a:prstGeom prst="rect">
            <a:avLst/>
          </a:prstGeom>
          <a:noFill/>
          <a:ln/>
        </p:spPr>
        <p:txBody>
          <a:bodyPr wrap="square" lIns="0" tIns="0" rIns="0" bIns="0" rtlCol="0" anchor="ctr"/>
          <a:lstStyle/>
          <a:p>
            <a:pPr marL="0" indent="0" algn="ctr">
              <a:buNone/>
            </a:pPr>
            <a:r>
              <a:rPr lang="en-US" sz="2400" b="1" dirty="0">
                <a:solidFill>
                  <a:srgbClr val="0D9488"/>
                </a:solidFill>
                <a:latin typeface="Georgia" pitchFamily="34" charset="0"/>
                <a:ea typeface="Georgia" pitchFamily="34" charset="-122"/>
                <a:cs typeface="Georgia" pitchFamily="34" charset="-120"/>
              </a:rPr>
              <a:t>1,000</a:t>
            </a:r>
            <a:endParaRPr lang="en-US" sz="2400" dirty="0"/>
          </a:p>
        </p:txBody>
      </p:sp>
      <p:sp>
        <p:nvSpPr>
          <p:cNvPr id="5" name="Text 3"/>
          <p:cNvSpPr/>
          <p:nvPr/>
        </p:nvSpPr>
        <p:spPr>
          <a:xfrm>
            <a:off x="457200" y="155448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Records</a:t>
            </a:r>
            <a:endParaRPr lang="en-US" sz="1100" dirty="0"/>
          </a:p>
        </p:txBody>
      </p:sp>
      <p:sp>
        <p:nvSpPr>
          <p:cNvPr id="6" name="Shape 4"/>
          <p:cNvSpPr/>
          <p:nvPr/>
        </p:nvSpPr>
        <p:spPr>
          <a:xfrm>
            <a:off x="2606040" y="1005840"/>
            <a:ext cx="19202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7" name="Text 5"/>
          <p:cNvSpPr/>
          <p:nvPr/>
        </p:nvSpPr>
        <p:spPr>
          <a:xfrm>
            <a:off x="2606040" y="1024128"/>
            <a:ext cx="1920240" cy="548640"/>
          </a:xfrm>
          <a:prstGeom prst="rect">
            <a:avLst/>
          </a:prstGeom>
          <a:noFill/>
          <a:ln/>
        </p:spPr>
        <p:txBody>
          <a:bodyPr wrap="square" lIns="0" tIns="0" rIns="0" bIns="0" rtlCol="0" anchor="ctr"/>
          <a:lstStyle/>
          <a:p>
            <a:pPr marL="0" indent="0" algn="ctr">
              <a:buNone/>
            </a:pPr>
            <a:r>
              <a:rPr lang="en-US" sz="2400" b="1" dirty="0">
                <a:solidFill>
                  <a:srgbClr val="0D9488"/>
                </a:solidFill>
                <a:latin typeface="Georgia" pitchFamily="34" charset="0"/>
                <a:ea typeface="Georgia" pitchFamily="34" charset="-122"/>
                <a:cs typeface="Georgia" pitchFamily="34" charset="-120"/>
              </a:rPr>
              <a:t>27</a:t>
            </a:r>
            <a:endParaRPr lang="en-US" sz="2400" dirty="0"/>
          </a:p>
        </p:txBody>
      </p:sp>
      <p:sp>
        <p:nvSpPr>
          <p:cNvPr id="8" name="Text 6"/>
          <p:cNvSpPr/>
          <p:nvPr/>
        </p:nvSpPr>
        <p:spPr>
          <a:xfrm>
            <a:off x="2606040" y="155448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Columns</a:t>
            </a:r>
            <a:endParaRPr lang="en-US" sz="1100" dirty="0"/>
          </a:p>
        </p:txBody>
      </p:sp>
      <p:sp>
        <p:nvSpPr>
          <p:cNvPr id="9" name="Shape 7"/>
          <p:cNvSpPr/>
          <p:nvPr/>
        </p:nvSpPr>
        <p:spPr>
          <a:xfrm>
            <a:off x="4754880" y="1005840"/>
            <a:ext cx="19202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Text 8"/>
          <p:cNvSpPr/>
          <p:nvPr/>
        </p:nvSpPr>
        <p:spPr>
          <a:xfrm>
            <a:off x="4754880" y="1024128"/>
            <a:ext cx="1920240" cy="548640"/>
          </a:xfrm>
          <a:prstGeom prst="rect">
            <a:avLst/>
          </a:prstGeom>
          <a:noFill/>
          <a:ln/>
        </p:spPr>
        <p:txBody>
          <a:bodyPr wrap="square" lIns="0" tIns="0" rIns="0" bIns="0" rtlCol="0" anchor="ctr"/>
          <a:lstStyle/>
          <a:p>
            <a:pPr marL="0" indent="0" algn="ctr">
              <a:buNone/>
            </a:pPr>
            <a:r>
              <a:rPr lang="en-US" sz="2400" b="1" dirty="0">
                <a:solidFill>
                  <a:srgbClr val="0D9488"/>
                </a:solidFill>
                <a:latin typeface="Georgia" pitchFamily="34" charset="0"/>
                <a:ea typeface="Georgia" pitchFamily="34" charset="-122"/>
                <a:cs typeface="Georgia" pitchFamily="34" charset="-120"/>
              </a:rPr>
              <a:t>4 Classes</a:t>
            </a:r>
            <a:endParaRPr lang="en-US" sz="2400" dirty="0"/>
          </a:p>
        </p:txBody>
      </p:sp>
      <p:sp>
        <p:nvSpPr>
          <p:cNvPr id="11" name="Text 9"/>
          <p:cNvSpPr/>
          <p:nvPr/>
        </p:nvSpPr>
        <p:spPr>
          <a:xfrm>
            <a:off x="4754880" y="155448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Target</a:t>
            </a:r>
            <a:endParaRPr lang="en-US" sz="1100" dirty="0"/>
          </a:p>
        </p:txBody>
      </p:sp>
      <p:sp>
        <p:nvSpPr>
          <p:cNvPr id="12" name="Shape 10"/>
          <p:cNvSpPr/>
          <p:nvPr/>
        </p:nvSpPr>
        <p:spPr>
          <a:xfrm>
            <a:off x="6903720" y="1005840"/>
            <a:ext cx="1920240" cy="9144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3" name="Text 11"/>
          <p:cNvSpPr/>
          <p:nvPr/>
        </p:nvSpPr>
        <p:spPr>
          <a:xfrm>
            <a:off x="6903720" y="1024128"/>
            <a:ext cx="1920240" cy="548640"/>
          </a:xfrm>
          <a:prstGeom prst="rect">
            <a:avLst/>
          </a:prstGeom>
          <a:noFill/>
          <a:ln/>
        </p:spPr>
        <p:txBody>
          <a:bodyPr wrap="square" lIns="0" tIns="0" rIns="0" bIns="0" rtlCol="0" anchor="ctr"/>
          <a:lstStyle/>
          <a:p>
            <a:pPr marL="0" indent="0" algn="ctr">
              <a:buNone/>
            </a:pPr>
            <a:r>
              <a:rPr lang="en-US" sz="2400" b="1" dirty="0">
                <a:solidFill>
                  <a:srgbClr val="0D9488"/>
                </a:solidFill>
                <a:latin typeface="Georgia" pitchFamily="34" charset="0"/>
                <a:ea typeface="Georgia" pitchFamily="34" charset="-122"/>
                <a:cs typeface="Georgia" pitchFamily="34" charset="-120"/>
              </a:rPr>
              <a:t>2</a:t>
            </a:r>
            <a:endParaRPr lang="en-US" sz="2400" dirty="0"/>
          </a:p>
        </p:txBody>
      </p:sp>
      <p:sp>
        <p:nvSpPr>
          <p:cNvPr id="14" name="Text 12"/>
          <p:cNvSpPr/>
          <p:nvPr/>
        </p:nvSpPr>
        <p:spPr>
          <a:xfrm>
            <a:off x="6903720" y="155448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Missing Cols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321040" cy="1554480"/>
        </p:xfrm>
        <a:graphic>
          <a:graphicData uri="http://schemas.openxmlformats.org/drawingml/2006/table">
            <a:tbl>
              <a:tblPr/>
              <a:tblGrid>
                <a:gridCol w="22860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 Category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Demographics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age, gender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Numeric / Categorical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Gaming Behavior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daily_gaming_hours, game_genre, platform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Sleep &amp; Health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sleep_hours, sleep_quality, eye_strain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Numeric / Categorical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Social &amp; Academic</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social_isolation_score, grades_gpa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Target Variable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gaming_addiction_risk_level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Low / Moderate / High / Severe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EDA — Target Variable Distribution</a:t>
            </a:r>
            <a:endParaRPr lang="en-US" sz="2600" dirty="0"/>
          </a:p>
        </p:txBody>
      </p:sp>
      <p:pic>
        <p:nvPicPr>
          <p:cNvPr id="3" name="Image 0" descr="/home/claude/chart_target_dist.png"/>
          <p:cNvPicPr>
            <a:picLocks noChangeAspect="1"/>
          </p:cNvPicPr>
          <p:nvPr/>
        </p:nvPicPr>
        <p:blipFill>
          <a:blip r:embed="rId3"/>
          <a:stretch>
            <a:fillRect/>
          </a:stretch>
        </p:blipFill>
        <p:spPr>
          <a:xfrm>
            <a:off x="274320" y="1005840"/>
            <a:ext cx="5029200" cy="3200400"/>
          </a:xfrm>
          <a:prstGeom prst="rect">
            <a:avLst/>
          </a:prstGeom>
        </p:spPr>
      </p:pic>
      <p:sp>
        <p:nvSpPr>
          <p:cNvPr id="4" name="Shape 1"/>
          <p:cNvSpPr/>
          <p:nvPr/>
        </p:nvSpPr>
        <p:spPr>
          <a:xfrm>
            <a:off x="5577840" y="1188720"/>
            <a:ext cx="3200400" cy="27432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pic>
        <p:nvPicPr>
          <p:cNvPr id="5" name="Image 1" descr="preencoded.png"/>
          <p:cNvPicPr>
            <a:picLocks noChangeAspect="1"/>
          </p:cNvPicPr>
          <p:nvPr/>
        </p:nvPicPr>
        <p:blipFill>
          <a:blip r:embed="rId4"/>
          <a:stretch>
            <a:fillRect/>
          </a:stretch>
        </p:blipFill>
        <p:spPr>
          <a:xfrm>
            <a:off x="5760720" y="1325880"/>
            <a:ext cx="320040" cy="320040"/>
          </a:xfrm>
          <a:prstGeom prst="rect">
            <a:avLst/>
          </a:prstGeom>
        </p:spPr>
      </p:pic>
      <p:sp>
        <p:nvSpPr>
          <p:cNvPr id="6" name="Text 2"/>
          <p:cNvSpPr/>
          <p:nvPr/>
        </p:nvSpPr>
        <p:spPr>
          <a:xfrm>
            <a:off x="6172200" y="1325880"/>
            <a:ext cx="2286000" cy="32004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Key Insight</a:t>
            </a:r>
            <a:endParaRPr lang="en-US" sz="1400" dirty="0"/>
          </a:p>
        </p:txBody>
      </p:sp>
      <p:sp>
        <p:nvSpPr>
          <p:cNvPr id="7" name="Text 3"/>
          <p:cNvSpPr/>
          <p:nvPr/>
        </p:nvSpPr>
        <p:spPr>
          <a:xfrm>
            <a:off x="5760720" y="1783080"/>
            <a:ext cx="2834640" cy="2011680"/>
          </a:xfrm>
          <a:prstGeom prst="rect">
            <a:avLst/>
          </a:prstGeom>
          <a:noFill/>
          <a:ln/>
        </p:spPr>
        <p:txBody>
          <a:bodyPr wrap="square" lIns="0" tIns="0" rIns="0" bIns="0" rtlCol="0" anchor="ctr"/>
          <a:lstStyle/>
          <a:p>
            <a:pPr marL="0" indent="0">
              <a:lnSpc>
                <a:spcPct val="130000"/>
              </a:lnSpc>
              <a:buNone/>
            </a:pPr>
            <a:r>
              <a:rPr lang="en-US" sz="1150" dirty="0">
                <a:solidFill>
                  <a:srgbClr val="1E293B"/>
                </a:solidFill>
                <a:latin typeface="Calibri" pitchFamily="34" charset="0"/>
                <a:ea typeface="Calibri" pitchFamily="34" charset="-122"/>
                <a:cs typeface="Calibri" pitchFamily="34" charset="-120"/>
              </a:rPr>
              <a:t>The dataset is clearly imbalanced — the Low risk class dominates, while Severe cases are under-represented. This imbalance can bias the model toward the majority class, requiring techniques like class weighting or SMOTE to ensure fair predictions across all risk levels.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EDA — Gaming Hours &amp; Sleep Patterns</a:t>
            </a:r>
            <a:endParaRPr lang="en-US" sz="2600" dirty="0"/>
          </a:p>
        </p:txBody>
      </p:sp>
      <p:pic>
        <p:nvPicPr>
          <p:cNvPr id="3" name="Image 0" descr="/home/claude/chart_hours_dist.png"/>
          <p:cNvPicPr>
            <a:picLocks noChangeAspect="1"/>
          </p:cNvPicPr>
          <p:nvPr/>
        </p:nvPicPr>
        <p:blipFill>
          <a:blip r:embed="rId3"/>
          <a:stretch>
            <a:fillRect/>
          </a:stretch>
        </p:blipFill>
        <p:spPr>
          <a:xfrm>
            <a:off x="182880" y="914400"/>
            <a:ext cx="4389120" cy="2743200"/>
          </a:xfrm>
          <a:prstGeom prst="rect">
            <a:avLst/>
          </a:prstGeom>
        </p:spPr>
      </p:pic>
      <p:pic>
        <p:nvPicPr>
          <p:cNvPr id="4" name="Image 1" descr="/home/claude/chart_scatter.png"/>
          <p:cNvPicPr>
            <a:picLocks noChangeAspect="1"/>
          </p:cNvPicPr>
          <p:nvPr/>
        </p:nvPicPr>
        <p:blipFill>
          <a:blip r:embed="rId4"/>
          <a:stretch>
            <a:fillRect/>
          </a:stretch>
        </p:blipFill>
        <p:spPr>
          <a:xfrm>
            <a:off x="4663440" y="914400"/>
            <a:ext cx="4389120" cy="2743200"/>
          </a:xfrm>
          <a:prstGeom prst="rect">
            <a:avLst/>
          </a:prstGeom>
        </p:spPr>
      </p:pic>
      <p:sp>
        <p:nvSpPr>
          <p:cNvPr id="5" name="Shape 1"/>
          <p:cNvSpPr/>
          <p:nvPr/>
        </p:nvSpPr>
        <p:spPr>
          <a:xfrm>
            <a:off x="274320" y="3840480"/>
            <a:ext cx="8595360" cy="10058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Text 2"/>
          <p:cNvSpPr/>
          <p:nvPr/>
        </p:nvSpPr>
        <p:spPr>
          <a:xfrm>
            <a:off x="548640" y="3931920"/>
            <a:ext cx="8046720" cy="82296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Most users game 4-8 hours/day (right-skewed). A clear negative relationship exists between gaming hours and sleep — higher gaming is associated with higher addiction risk, making both features strong predictors.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EDA — Social Isolation &amp; Correlation Analysis</a:t>
            </a:r>
            <a:endParaRPr lang="en-US" sz="2600" dirty="0"/>
          </a:p>
        </p:txBody>
      </p:sp>
      <p:pic>
        <p:nvPicPr>
          <p:cNvPr id="3" name="Image 0" descr="/home/claude/chart_boxplot.png"/>
          <p:cNvPicPr>
            <a:picLocks noChangeAspect="1"/>
          </p:cNvPicPr>
          <p:nvPr/>
        </p:nvPicPr>
        <p:blipFill>
          <a:blip r:embed="rId3"/>
          <a:stretch>
            <a:fillRect/>
          </a:stretch>
        </p:blipFill>
        <p:spPr>
          <a:xfrm>
            <a:off x="182880" y="914400"/>
            <a:ext cx="4389120" cy="2743200"/>
          </a:xfrm>
          <a:prstGeom prst="rect">
            <a:avLst/>
          </a:prstGeom>
        </p:spPr>
      </p:pic>
      <p:pic>
        <p:nvPicPr>
          <p:cNvPr id="4" name="Image 1" descr="/home/claude/chart_heatmap.png"/>
          <p:cNvPicPr>
            <a:picLocks noChangeAspect="1"/>
          </p:cNvPicPr>
          <p:nvPr/>
        </p:nvPicPr>
        <p:blipFill>
          <a:blip r:embed="rId4"/>
          <a:stretch>
            <a:fillRect/>
          </a:stretch>
        </p:blipFill>
        <p:spPr>
          <a:xfrm>
            <a:off x="4663440" y="914400"/>
            <a:ext cx="4389120" cy="2743200"/>
          </a:xfrm>
          <a:prstGeom prst="rect">
            <a:avLst/>
          </a:prstGeom>
        </p:spPr>
      </p:pic>
      <p:sp>
        <p:nvSpPr>
          <p:cNvPr id="5" name="Shape 1"/>
          <p:cNvSpPr/>
          <p:nvPr/>
        </p:nvSpPr>
        <p:spPr>
          <a:xfrm>
            <a:off x="274320" y="3840480"/>
            <a:ext cx="8595360" cy="10058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Text 2"/>
          <p:cNvSpPr/>
          <p:nvPr/>
        </p:nvSpPr>
        <p:spPr>
          <a:xfrm>
            <a:off x="548640" y="3931920"/>
            <a:ext cx="8046720" cy="82296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Social isolation scores increase with addiction severity. The heatmap reveals interconnected behavioral features — gaming addiction is linked to a combination of factors, not a single predictor.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Data Preprocessing Pipeline</a:t>
            </a:r>
            <a:endParaRPr lang="en-US" sz="2800" dirty="0"/>
          </a:p>
        </p:txBody>
      </p:sp>
      <p:sp>
        <p:nvSpPr>
          <p:cNvPr id="3" name="Shape 1"/>
          <p:cNvSpPr/>
          <p:nvPr/>
        </p:nvSpPr>
        <p:spPr>
          <a:xfrm>
            <a:off x="365760" y="1051560"/>
            <a:ext cx="411480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502920" y="1325880"/>
            <a:ext cx="502920" cy="502920"/>
          </a:xfrm>
          <a:prstGeom prst="ellipse">
            <a:avLst/>
          </a:prstGeom>
          <a:solidFill>
            <a:srgbClr val="0D9488"/>
          </a:solidFill>
          <a:ln/>
        </p:spPr>
        <p:txBody>
          <a:bodyPr/>
          <a:lstStyle/>
          <a:p>
            <a:endParaRPr lang="en-US"/>
          </a:p>
        </p:txBody>
      </p:sp>
      <p:sp>
        <p:nvSpPr>
          <p:cNvPr id="5" name="Text 3"/>
          <p:cNvSpPr/>
          <p:nvPr/>
        </p:nvSpPr>
        <p:spPr>
          <a:xfrm>
            <a:off x="502920" y="1325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143000" y="1143000"/>
            <a:ext cx="31089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Handle Missing Values</a:t>
            </a:r>
            <a:endParaRPr lang="en-US" sz="1300" dirty="0"/>
          </a:p>
        </p:txBody>
      </p:sp>
      <p:sp>
        <p:nvSpPr>
          <p:cNvPr id="7" name="Text 5"/>
          <p:cNvSpPr/>
          <p:nvPr/>
        </p:nvSpPr>
        <p:spPr>
          <a:xfrm>
            <a:off x="1143000" y="1508760"/>
            <a:ext cx="32004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grades_gpa and work_productivity_score filled with median — robust to outliers, preserves distribution.</a:t>
            </a:r>
            <a:endParaRPr lang="en-US" sz="1050" dirty="0"/>
          </a:p>
        </p:txBody>
      </p:sp>
      <p:sp>
        <p:nvSpPr>
          <p:cNvPr id="8" name="Shape 6"/>
          <p:cNvSpPr/>
          <p:nvPr/>
        </p:nvSpPr>
        <p:spPr>
          <a:xfrm>
            <a:off x="4663440" y="1051560"/>
            <a:ext cx="411480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Shape 7"/>
          <p:cNvSpPr/>
          <p:nvPr/>
        </p:nvSpPr>
        <p:spPr>
          <a:xfrm>
            <a:off x="4800600" y="1325880"/>
            <a:ext cx="502920" cy="502920"/>
          </a:xfrm>
          <a:prstGeom prst="ellipse">
            <a:avLst/>
          </a:prstGeom>
          <a:solidFill>
            <a:srgbClr val="0D9488"/>
          </a:solidFill>
          <a:ln/>
        </p:spPr>
        <p:txBody>
          <a:bodyPr/>
          <a:lstStyle/>
          <a:p>
            <a:endParaRPr lang="en-US"/>
          </a:p>
        </p:txBody>
      </p:sp>
      <p:sp>
        <p:nvSpPr>
          <p:cNvPr id="10" name="Text 8"/>
          <p:cNvSpPr/>
          <p:nvPr/>
        </p:nvSpPr>
        <p:spPr>
          <a:xfrm>
            <a:off x="4800600" y="1325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5440680" y="1143000"/>
            <a:ext cx="31089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Remove Data Leakage</a:t>
            </a:r>
            <a:endParaRPr lang="en-US" sz="1300" dirty="0"/>
          </a:p>
        </p:txBody>
      </p:sp>
      <p:sp>
        <p:nvSpPr>
          <p:cNvPr id="12" name="Text 10"/>
          <p:cNvSpPr/>
          <p:nvPr/>
        </p:nvSpPr>
        <p:spPr>
          <a:xfrm>
            <a:off x="5440680" y="1508760"/>
            <a:ext cx="32004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Dropped withdrawal_symptoms, loss_of_other_interests, continued_despite_problems — these define addiction, not predict it.</a:t>
            </a:r>
            <a:endParaRPr lang="en-US" sz="1050" dirty="0"/>
          </a:p>
        </p:txBody>
      </p:sp>
      <p:sp>
        <p:nvSpPr>
          <p:cNvPr id="13" name="Shape 11"/>
          <p:cNvSpPr/>
          <p:nvPr/>
        </p:nvSpPr>
        <p:spPr>
          <a:xfrm>
            <a:off x="365760" y="2331720"/>
            <a:ext cx="411480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4" name="Shape 12"/>
          <p:cNvSpPr/>
          <p:nvPr/>
        </p:nvSpPr>
        <p:spPr>
          <a:xfrm>
            <a:off x="502920" y="2606040"/>
            <a:ext cx="502920" cy="502920"/>
          </a:xfrm>
          <a:prstGeom prst="ellipse">
            <a:avLst/>
          </a:prstGeom>
          <a:solidFill>
            <a:srgbClr val="0D9488"/>
          </a:solidFill>
          <a:ln/>
        </p:spPr>
        <p:txBody>
          <a:bodyPr/>
          <a:lstStyle/>
          <a:p>
            <a:endParaRPr lang="en-US"/>
          </a:p>
        </p:txBody>
      </p:sp>
      <p:sp>
        <p:nvSpPr>
          <p:cNvPr id="15" name="Text 13"/>
          <p:cNvSpPr/>
          <p:nvPr/>
        </p:nvSpPr>
        <p:spPr>
          <a:xfrm>
            <a:off x="502920" y="2606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143000" y="2423160"/>
            <a:ext cx="31089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Remove Irrelevant Columns</a:t>
            </a:r>
            <a:endParaRPr lang="en-US" sz="1300" dirty="0"/>
          </a:p>
        </p:txBody>
      </p:sp>
      <p:sp>
        <p:nvSpPr>
          <p:cNvPr id="17" name="Text 15"/>
          <p:cNvSpPr/>
          <p:nvPr/>
        </p:nvSpPr>
        <p:spPr>
          <a:xfrm>
            <a:off x="1143000" y="2788920"/>
            <a:ext cx="32004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Dropped record_id (identifier) and primary_game (high-cardinality, adds noise).</a:t>
            </a:r>
            <a:endParaRPr lang="en-US" sz="1050" dirty="0"/>
          </a:p>
        </p:txBody>
      </p:sp>
      <p:sp>
        <p:nvSpPr>
          <p:cNvPr id="18" name="Shape 16"/>
          <p:cNvSpPr/>
          <p:nvPr/>
        </p:nvSpPr>
        <p:spPr>
          <a:xfrm>
            <a:off x="4663440" y="2331720"/>
            <a:ext cx="411480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9" name="Shape 17"/>
          <p:cNvSpPr/>
          <p:nvPr/>
        </p:nvSpPr>
        <p:spPr>
          <a:xfrm>
            <a:off x="4800600" y="2606040"/>
            <a:ext cx="502920" cy="502920"/>
          </a:xfrm>
          <a:prstGeom prst="ellipse">
            <a:avLst/>
          </a:prstGeom>
          <a:solidFill>
            <a:srgbClr val="0D9488"/>
          </a:solidFill>
          <a:ln/>
        </p:spPr>
        <p:txBody>
          <a:bodyPr/>
          <a:lstStyle/>
          <a:p>
            <a:endParaRPr lang="en-US"/>
          </a:p>
        </p:txBody>
      </p:sp>
      <p:sp>
        <p:nvSpPr>
          <p:cNvPr id="20" name="Text 18"/>
          <p:cNvSpPr/>
          <p:nvPr/>
        </p:nvSpPr>
        <p:spPr>
          <a:xfrm>
            <a:off x="4800600" y="2606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5440680" y="2423160"/>
            <a:ext cx="31089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Encode Categoricals</a:t>
            </a:r>
            <a:endParaRPr lang="en-US" sz="1300" dirty="0"/>
          </a:p>
        </p:txBody>
      </p:sp>
      <p:sp>
        <p:nvSpPr>
          <p:cNvPr id="22" name="Text 20"/>
          <p:cNvSpPr/>
          <p:nvPr/>
        </p:nvSpPr>
        <p:spPr>
          <a:xfrm>
            <a:off x="5440680" y="2788920"/>
            <a:ext cx="32004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One-Hot Encoding applied to gender, game_genre, gaming_platform, mood_state, etc. via ColumnTransformer.</a:t>
            </a:r>
            <a:endParaRPr lang="en-US" sz="1050" dirty="0"/>
          </a:p>
        </p:txBody>
      </p:sp>
      <p:sp>
        <p:nvSpPr>
          <p:cNvPr id="23" name="Shape 21"/>
          <p:cNvSpPr/>
          <p:nvPr/>
        </p:nvSpPr>
        <p:spPr>
          <a:xfrm>
            <a:off x="365760" y="3611880"/>
            <a:ext cx="411480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2"/>
          <p:cNvSpPr/>
          <p:nvPr/>
        </p:nvSpPr>
        <p:spPr>
          <a:xfrm>
            <a:off x="502920" y="3886200"/>
            <a:ext cx="502920" cy="502920"/>
          </a:xfrm>
          <a:prstGeom prst="ellipse">
            <a:avLst/>
          </a:prstGeom>
          <a:solidFill>
            <a:srgbClr val="0D9488"/>
          </a:solidFill>
          <a:ln/>
        </p:spPr>
        <p:txBody>
          <a:bodyPr/>
          <a:lstStyle/>
          <a:p>
            <a:endParaRPr lang="en-US"/>
          </a:p>
        </p:txBody>
      </p:sp>
      <p:sp>
        <p:nvSpPr>
          <p:cNvPr id="25" name="Text 23"/>
          <p:cNvSpPr/>
          <p:nvPr/>
        </p:nvSpPr>
        <p:spPr>
          <a:xfrm>
            <a:off x="502920" y="3886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6" name="Text 24"/>
          <p:cNvSpPr/>
          <p:nvPr/>
        </p:nvSpPr>
        <p:spPr>
          <a:xfrm>
            <a:off x="1143000" y="3703320"/>
            <a:ext cx="31089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Train/Test Split</a:t>
            </a:r>
            <a:endParaRPr lang="en-US" sz="1300" dirty="0"/>
          </a:p>
        </p:txBody>
      </p:sp>
      <p:sp>
        <p:nvSpPr>
          <p:cNvPr id="27" name="Text 25"/>
          <p:cNvSpPr/>
          <p:nvPr/>
        </p:nvSpPr>
        <p:spPr>
          <a:xfrm>
            <a:off x="1143000" y="4069080"/>
            <a:ext cx="32004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80/20 stratified split (random_state=42). Stratification ensures class proportions are preserved.</a:t>
            </a:r>
            <a:endParaRPr lang="en-US" sz="1050" dirty="0"/>
          </a:p>
        </p:txBody>
      </p:sp>
      <p:sp>
        <p:nvSpPr>
          <p:cNvPr id="28" name="Shape 26"/>
          <p:cNvSpPr/>
          <p:nvPr/>
        </p:nvSpPr>
        <p:spPr>
          <a:xfrm>
            <a:off x="4663440" y="3611880"/>
            <a:ext cx="411480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9" name="Shape 27"/>
          <p:cNvSpPr/>
          <p:nvPr/>
        </p:nvSpPr>
        <p:spPr>
          <a:xfrm>
            <a:off x="4800600" y="3886200"/>
            <a:ext cx="502920" cy="502920"/>
          </a:xfrm>
          <a:prstGeom prst="ellipse">
            <a:avLst/>
          </a:prstGeom>
          <a:solidFill>
            <a:srgbClr val="0D9488"/>
          </a:solidFill>
          <a:ln/>
        </p:spPr>
        <p:txBody>
          <a:bodyPr/>
          <a:lstStyle/>
          <a:p>
            <a:endParaRPr lang="en-US"/>
          </a:p>
        </p:txBody>
      </p:sp>
      <p:sp>
        <p:nvSpPr>
          <p:cNvPr id="30" name="Text 28"/>
          <p:cNvSpPr/>
          <p:nvPr/>
        </p:nvSpPr>
        <p:spPr>
          <a:xfrm>
            <a:off x="4800600" y="3886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31" name="Text 29"/>
          <p:cNvSpPr/>
          <p:nvPr/>
        </p:nvSpPr>
        <p:spPr>
          <a:xfrm>
            <a:off x="5440680" y="3703320"/>
            <a:ext cx="3108960" cy="32004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Label Encode Target</a:t>
            </a:r>
            <a:endParaRPr lang="en-US" sz="1300" dirty="0"/>
          </a:p>
        </p:txBody>
      </p:sp>
      <p:sp>
        <p:nvSpPr>
          <p:cNvPr id="32" name="Text 30"/>
          <p:cNvSpPr/>
          <p:nvPr/>
        </p:nvSpPr>
        <p:spPr>
          <a:xfrm>
            <a:off x="5440680" y="4069080"/>
            <a:ext cx="32004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encoded: High=0, Low=1, Moderate=2, Severe=3 for multi-class classification.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5EEAD4"/>
          </a:solidFill>
          <a:ln/>
        </p:spPr>
        <p:txBody>
          <a:bodyPr/>
          <a:lstStyle/>
          <a:p>
            <a:endParaRPr lang="en-US"/>
          </a:p>
        </p:txBody>
      </p:sp>
      <p:sp>
        <p:nvSpPr>
          <p:cNvPr id="3" name="Text 1"/>
          <p:cNvSpPr/>
          <p:nvPr/>
        </p:nvSpPr>
        <p:spPr>
          <a:xfrm>
            <a:off x="640080" y="914400"/>
            <a:ext cx="1828800" cy="1097280"/>
          </a:xfrm>
          <a:prstGeom prst="rect">
            <a:avLst/>
          </a:prstGeom>
          <a:noFill/>
          <a:ln/>
        </p:spPr>
        <p:txBody>
          <a:bodyPr wrap="square" lIns="0" tIns="0" rIns="0" bIns="0" rtlCol="0" anchor="ctr"/>
          <a:lstStyle/>
          <a:p>
            <a:pPr marL="0" indent="0">
              <a:buNone/>
            </a:pPr>
            <a:r>
              <a:rPr lang="en-US" sz="7200" b="1" dirty="0">
                <a:solidFill>
                  <a:srgbClr val="5EEAD4"/>
                </a:solidFill>
                <a:latin typeface="Georgia" pitchFamily="34" charset="0"/>
                <a:ea typeface="Georgia" pitchFamily="34" charset="-122"/>
                <a:cs typeface="Georgia" pitchFamily="34" charset="-120"/>
              </a:rPr>
              <a:t>03</a:t>
            </a:r>
            <a:endParaRPr lang="en-US" sz="7200" dirty="0"/>
          </a:p>
        </p:txBody>
      </p:sp>
      <p:sp>
        <p:nvSpPr>
          <p:cNvPr id="4" name="Text 2"/>
          <p:cNvSpPr/>
          <p:nvPr/>
        </p:nvSpPr>
        <p:spPr>
          <a:xfrm>
            <a:off x="640080" y="2011680"/>
            <a:ext cx="4572000" cy="12801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Model</a:t>
            </a:r>
            <a:endParaRPr lang="en-US" sz="3600" dirty="0"/>
          </a:p>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Evaluation</a:t>
            </a:r>
            <a:endParaRPr lang="en-US" sz="3600" dirty="0"/>
          </a:p>
        </p:txBody>
      </p:sp>
      <p:sp>
        <p:nvSpPr>
          <p:cNvPr id="5" name="Text 3"/>
          <p:cNvSpPr/>
          <p:nvPr/>
        </p:nvSpPr>
        <p:spPr>
          <a:xfrm>
            <a:off x="640080" y="3383280"/>
            <a:ext cx="548640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Performance metrics, confusion matrices, comparison, and feature importance</a:t>
            </a:r>
            <a:endParaRPr lang="en-US" sz="1400" dirty="0"/>
          </a:p>
        </p:txBody>
      </p:sp>
      <p:sp>
        <p:nvSpPr>
          <p:cNvPr id="6" name="Shape 4"/>
          <p:cNvSpPr/>
          <p:nvPr/>
        </p:nvSpPr>
        <p:spPr>
          <a:xfrm>
            <a:off x="7132320" y="1645920"/>
            <a:ext cx="1463040" cy="1463040"/>
          </a:xfrm>
          <a:prstGeom prst="ellipse">
            <a:avLst/>
          </a:prstGeom>
          <a:solidFill>
            <a:srgbClr val="5EEAD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452360" y="1965960"/>
            <a:ext cx="822960" cy="822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Understanding Evaluation Metrics</a:t>
            </a:r>
            <a:endParaRPr lang="en-US" sz="2800" dirty="0"/>
          </a:p>
        </p:txBody>
      </p:sp>
      <p:sp>
        <p:nvSpPr>
          <p:cNvPr id="3" name="Shape 1"/>
          <p:cNvSpPr/>
          <p:nvPr/>
        </p:nvSpPr>
        <p:spPr>
          <a:xfrm>
            <a:off x="365760" y="1051560"/>
            <a:ext cx="4114800" cy="1691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365760" y="1051560"/>
            <a:ext cx="4114800" cy="54864"/>
          </a:xfrm>
          <a:prstGeom prst="rect">
            <a:avLst/>
          </a:prstGeom>
          <a:solidFill>
            <a:srgbClr val="0D9488"/>
          </a:solidFill>
          <a:ln/>
        </p:spPr>
        <p:txBody>
          <a:bodyPr/>
          <a:lstStyle/>
          <a:p>
            <a:endParaRPr lang="en-US"/>
          </a:p>
        </p:txBody>
      </p:sp>
      <p:sp>
        <p:nvSpPr>
          <p:cNvPr id="5" name="Text 3"/>
          <p:cNvSpPr/>
          <p:nvPr/>
        </p:nvSpPr>
        <p:spPr>
          <a:xfrm>
            <a:off x="594360" y="1234440"/>
            <a:ext cx="18288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Accuracy</a:t>
            </a:r>
            <a:endParaRPr lang="en-US" sz="1600" dirty="0"/>
          </a:p>
        </p:txBody>
      </p:sp>
      <p:sp>
        <p:nvSpPr>
          <p:cNvPr id="6" name="Text 4"/>
          <p:cNvSpPr/>
          <p:nvPr/>
        </p:nvSpPr>
        <p:spPr>
          <a:xfrm>
            <a:off x="594360" y="1600200"/>
            <a:ext cx="3657600" cy="320040"/>
          </a:xfrm>
          <a:prstGeom prst="rect">
            <a:avLst/>
          </a:prstGeom>
          <a:noFill/>
          <a:ln/>
        </p:spPr>
        <p:txBody>
          <a:bodyPr wrap="square" lIns="0" tIns="0" rIns="0" bIns="0" rtlCol="0" anchor="ctr"/>
          <a:lstStyle/>
          <a:p>
            <a:pPr marL="0" indent="0">
              <a:buNone/>
            </a:pPr>
            <a:r>
              <a:rPr lang="en-US" sz="1300" dirty="0">
                <a:solidFill>
                  <a:srgbClr val="0D9488"/>
                </a:solidFill>
                <a:latin typeface="Consolas" pitchFamily="34" charset="0"/>
                <a:ea typeface="Consolas" pitchFamily="34" charset="-122"/>
                <a:cs typeface="Consolas" pitchFamily="34" charset="-120"/>
              </a:rPr>
              <a:t>(TP + TN) / Total</a:t>
            </a:r>
            <a:endParaRPr lang="en-US" sz="1300" dirty="0"/>
          </a:p>
        </p:txBody>
      </p:sp>
      <p:sp>
        <p:nvSpPr>
          <p:cNvPr id="7" name="Text 5"/>
          <p:cNvSpPr/>
          <p:nvPr/>
        </p:nvSpPr>
        <p:spPr>
          <a:xfrm>
            <a:off x="594360" y="1965960"/>
            <a:ext cx="3657600" cy="6400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Overall proportion of correct predictions across all classes. Can be misleading for imbalanced datasets.</a:t>
            </a:r>
            <a:endParaRPr lang="en-US" sz="1150" dirty="0"/>
          </a:p>
        </p:txBody>
      </p:sp>
      <p:sp>
        <p:nvSpPr>
          <p:cNvPr id="8" name="Shape 6"/>
          <p:cNvSpPr/>
          <p:nvPr/>
        </p:nvSpPr>
        <p:spPr>
          <a:xfrm>
            <a:off x="4663440" y="1051560"/>
            <a:ext cx="4114800" cy="1691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Shape 7"/>
          <p:cNvSpPr/>
          <p:nvPr/>
        </p:nvSpPr>
        <p:spPr>
          <a:xfrm>
            <a:off x="4663440" y="1051560"/>
            <a:ext cx="4114800" cy="54864"/>
          </a:xfrm>
          <a:prstGeom prst="rect">
            <a:avLst/>
          </a:prstGeom>
          <a:solidFill>
            <a:srgbClr val="14B8A6"/>
          </a:solidFill>
          <a:ln/>
        </p:spPr>
        <p:txBody>
          <a:bodyPr/>
          <a:lstStyle/>
          <a:p>
            <a:endParaRPr lang="en-US"/>
          </a:p>
        </p:txBody>
      </p:sp>
      <p:sp>
        <p:nvSpPr>
          <p:cNvPr id="10" name="Text 8"/>
          <p:cNvSpPr/>
          <p:nvPr/>
        </p:nvSpPr>
        <p:spPr>
          <a:xfrm>
            <a:off x="4892040" y="1234440"/>
            <a:ext cx="18288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Precision</a:t>
            </a:r>
            <a:endParaRPr lang="en-US" sz="1600" dirty="0"/>
          </a:p>
        </p:txBody>
      </p:sp>
      <p:sp>
        <p:nvSpPr>
          <p:cNvPr id="11" name="Text 9"/>
          <p:cNvSpPr/>
          <p:nvPr/>
        </p:nvSpPr>
        <p:spPr>
          <a:xfrm>
            <a:off x="4892040" y="1600200"/>
            <a:ext cx="3657600" cy="320040"/>
          </a:xfrm>
          <a:prstGeom prst="rect">
            <a:avLst/>
          </a:prstGeom>
          <a:noFill/>
          <a:ln/>
        </p:spPr>
        <p:txBody>
          <a:bodyPr wrap="square" lIns="0" tIns="0" rIns="0" bIns="0" rtlCol="0" anchor="ctr"/>
          <a:lstStyle/>
          <a:p>
            <a:pPr marL="0" indent="0">
              <a:buNone/>
            </a:pPr>
            <a:r>
              <a:rPr lang="en-US" sz="1300" dirty="0">
                <a:solidFill>
                  <a:srgbClr val="14B8A6"/>
                </a:solidFill>
                <a:latin typeface="Consolas" pitchFamily="34" charset="0"/>
                <a:ea typeface="Consolas" pitchFamily="34" charset="-122"/>
                <a:cs typeface="Consolas" pitchFamily="34" charset="-120"/>
              </a:rPr>
              <a:t>TP / (TP + FP)</a:t>
            </a:r>
            <a:endParaRPr lang="en-US" sz="1300" dirty="0"/>
          </a:p>
        </p:txBody>
      </p:sp>
      <p:sp>
        <p:nvSpPr>
          <p:cNvPr id="12" name="Text 10"/>
          <p:cNvSpPr/>
          <p:nvPr/>
        </p:nvSpPr>
        <p:spPr>
          <a:xfrm>
            <a:off x="4892040" y="1965960"/>
            <a:ext cx="3657600" cy="6400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Of all samples predicted as class X, how many actually belong to class X? Measures false positive rate.</a:t>
            </a:r>
            <a:endParaRPr lang="en-US" sz="1150" dirty="0"/>
          </a:p>
        </p:txBody>
      </p:sp>
      <p:sp>
        <p:nvSpPr>
          <p:cNvPr id="13" name="Shape 11"/>
          <p:cNvSpPr/>
          <p:nvPr/>
        </p:nvSpPr>
        <p:spPr>
          <a:xfrm>
            <a:off x="365760" y="2926080"/>
            <a:ext cx="4114800" cy="1691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4" name="Shape 12"/>
          <p:cNvSpPr/>
          <p:nvPr/>
        </p:nvSpPr>
        <p:spPr>
          <a:xfrm>
            <a:off x="365760" y="2926080"/>
            <a:ext cx="4114800" cy="54864"/>
          </a:xfrm>
          <a:prstGeom prst="rect">
            <a:avLst/>
          </a:prstGeom>
          <a:solidFill>
            <a:srgbClr val="0F766E"/>
          </a:solidFill>
          <a:ln/>
        </p:spPr>
        <p:txBody>
          <a:bodyPr/>
          <a:lstStyle/>
          <a:p>
            <a:endParaRPr lang="en-US"/>
          </a:p>
        </p:txBody>
      </p:sp>
      <p:sp>
        <p:nvSpPr>
          <p:cNvPr id="15" name="Text 13"/>
          <p:cNvSpPr/>
          <p:nvPr/>
        </p:nvSpPr>
        <p:spPr>
          <a:xfrm>
            <a:off x="594360" y="3108960"/>
            <a:ext cx="18288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Recall</a:t>
            </a:r>
            <a:endParaRPr lang="en-US" sz="1600" dirty="0"/>
          </a:p>
        </p:txBody>
      </p:sp>
      <p:sp>
        <p:nvSpPr>
          <p:cNvPr id="16" name="Text 14"/>
          <p:cNvSpPr/>
          <p:nvPr/>
        </p:nvSpPr>
        <p:spPr>
          <a:xfrm>
            <a:off x="594360" y="3474720"/>
            <a:ext cx="3657600" cy="320040"/>
          </a:xfrm>
          <a:prstGeom prst="rect">
            <a:avLst/>
          </a:prstGeom>
          <a:noFill/>
          <a:ln/>
        </p:spPr>
        <p:txBody>
          <a:bodyPr wrap="square" lIns="0" tIns="0" rIns="0" bIns="0" rtlCol="0" anchor="ctr"/>
          <a:lstStyle/>
          <a:p>
            <a:pPr marL="0" indent="0">
              <a:buNone/>
            </a:pPr>
            <a:r>
              <a:rPr lang="en-US" sz="1300" dirty="0">
                <a:solidFill>
                  <a:srgbClr val="0F766E"/>
                </a:solidFill>
                <a:latin typeface="Consolas" pitchFamily="34" charset="0"/>
                <a:ea typeface="Consolas" pitchFamily="34" charset="-122"/>
                <a:cs typeface="Consolas" pitchFamily="34" charset="-120"/>
              </a:rPr>
              <a:t>TP / (TP + FN)</a:t>
            </a:r>
            <a:endParaRPr lang="en-US" sz="1300" dirty="0"/>
          </a:p>
        </p:txBody>
      </p:sp>
      <p:sp>
        <p:nvSpPr>
          <p:cNvPr id="17" name="Text 15"/>
          <p:cNvSpPr/>
          <p:nvPr/>
        </p:nvSpPr>
        <p:spPr>
          <a:xfrm>
            <a:off x="594360" y="3840480"/>
            <a:ext cx="3657600" cy="6400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Of all actual class X samples, how many did the model correctly identify? Measures false negative rate.</a:t>
            </a:r>
            <a:endParaRPr lang="en-US" sz="1150" dirty="0"/>
          </a:p>
        </p:txBody>
      </p:sp>
      <p:sp>
        <p:nvSpPr>
          <p:cNvPr id="18" name="Shape 16"/>
          <p:cNvSpPr/>
          <p:nvPr/>
        </p:nvSpPr>
        <p:spPr>
          <a:xfrm>
            <a:off x="4663440" y="2926080"/>
            <a:ext cx="4114800" cy="1691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9" name="Shape 17"/>
          <p:cNvSpPr/>
          <p:nvPr/>
        </p:nvSpPr>
        <p:spPr>
          <a:xfrm>
            <a:off x="4663440" y="2926080"/>
            <a:ext cx="4114800" cy="54864"/>
          </a:xfrm>
          <a:prstGeom prst="rect">
            <a:avLst/>
          </a:prstGeom>
          <a:solidFill>
            <a:srgbClr val="134E4A"/>
          </a:solidFill>
          <a:ln/>
        </p:spPr>
        <p:txBody>
          <a:bodyPr/>
          <a:lstStyle/>
          <a:p>
            <a:endParaRPr lang="en-US"/>
          </a:p>
        </p:txBody>
      </p:sp>
      <p:sp>
        <p:nvSpPr>
          <p:cNvPr id="20" name="Text 18"/>
          <p:cNvSpPr/>
          <p:nvPr/>
        </p:nvSpPr>
        <p:spPr>
          <a:xfrm>
            <a:off x="4892040" y="3108960"/>
            <a:ext cx="18288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F1 Score</a:t>
            </a:r>
            <a:endParaRPr lang="en-US" sz="1600" dirty="0"/>
          </a:p>
        </p:txBody>
      </p:sp>
      <p:sp>
        <p:nvSpPr>
          <p:cNvPr id="21" name="Text 19"/>
          <p:cNvSpPr/>
          <p:nvPr/>
        </p:nvSpPr>
        <p:spPr>
          <a:xfrm>
            <a:off x="4892040" y="3474720"/>
            <a:ext cx="3657600" cy="320040"/>
          </a:xfrm>
          <a:prstGeom prst="rect">
            <a:avLst/>
          </a:prstGeom>
          <a:noFill/>
          <a:ln/>
        </p:spPr>
        <p:txBody>
          <a:bodyPr wrap="square" lIns="0" tIns="0" rIns="0" bIns="0" rtlCol="0" anchor="ctr"/>
          <a:lstStyle/>
          <a:p>
            <a:pPr marL="0" indent="0">
              <a:buNone/>
            </a:pPr>
            <a:r>
              <a:rPr lang="en-US" sz="1300" dirty="0">
                <a:solidFill>
                  <a:srgbClr val="134E4A"/>
                </a:solidFill>
                <a:latin typeface="Consolas" pitchFamily="34" charset="0"/>
                <a:ea typeface="Consolas" pitchFamily="34" charset="-122"/>
                <a:cs typeface="Consolas" pitchFamily="34" charset="-120"/>
              </a:rPr>
              <a:t>2 × (P × R) / (P + R)</a:t>
            </a:r>
            <a:endParaRPr lang="en-US" sz="1300" dirty="0"/>
          </a:p>
        </p:txBody>
      </p:sp>
      <p:sp>
        <p:nvSpPr>
          <p:cNvPr id="22" name="Text 20"/>
          <p:cNvSpPr/>
          <p:nvPr/>
        </p:nvSpPr>
        <p:spPr>
          <a:xfrm>
            <a:off x="4892040" y="3840480"/>
            <a:ext cx="3657600" cy="6400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Harmonic mean of precision and recall. Balances both metrics — especially important for imbalanced classes.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Baseline Model Results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321040" cy="1371600"/>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F1 Score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69.0%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70.6%</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69.0%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68.8%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67.5%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67.4%</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67.5%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67.2%</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Tuned XGBoost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72.5%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73.7%</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72.5%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72.5%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KNN (k=5)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62.8%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63.8%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A"/>
                    </a:solidFill>
                  </a:tcPr>
                </a:tc>
                <a:extLst>
                  <a:ext uri="{0D108BD9-81ED-4DB2-BD59-A6C34878D82A}">
                    <a16:rowId xmlns:a16="http://schemas.microsoft.com/office/drawing/2014/main" val="10004"/>
                  </a:ext>
                </a:extLst>
              </a:tr>
            </a:tbl>
          </a:graphicData>
        </a:graphic>
      </p:graphicFrame>
      <p:sp>
        <p:nvSpPr>
          <p:cNvPr id="4" name="Shape 1"/>
          <p:cNvSpPr/>
          <p:nvPr/>
        </p:nvSpPr>
        <p:spPr>
          <a:xfrm>
            <a:off x="457200" y="3200400"/>
            <a:ext cx="8321040" cy="16459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640080" y="3337560"/>
            <a:ext cx="320040" cy="320040"/>
          </a:xfrm>
          <a:prstGeom prst="rect">
            <a:avLst/>
          </a:prstGeom>
        </p:spPr>
      </p:pic>
      <p:sp>
        <p:nvSpPr>
          <p:cNvPr id="6" name="Text 2"/>
          <p:cNvSpPr/>
          <p:nvPr/>
        </p:nvSpPr>
        <p:spPr>
          <a:xfrm>
            <a:off x="1051560" y="3337560"/>
            <a:ext cx="2743200" cy="3200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Key Findings</a:t>
            </a:r>
            <a:endParaRPr lang="en-US" sz="1400" dirty="0"/>
          </a:p>
        </p:txBody>
      </p:sp>
      <p:sp>
        <p:nvSpPr>
          <p:cNvPr id="7" name="Text 3"/>
          <p:cNvSpPr/>
          <p:nvPr/>
        </p:nvSpPr>
        <p:spPr>
          <a:xfrm>
            <a:off x="640080" y="3749040"/>
            <a:ext cx="7955280" cy="100584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Tuned XGBoost achieved the best performance across all metrics (72.5% accuracy, 72.5% F1). Hyperparameter tuning with RandomizedSearchCV and class weighting improved XGBoost by +5% accuracy over the baseline. Tree-based models consistently outperformed KNN, indicating that distance-based methods are less suitable for this structured dataset with high-cardinality encoded features.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Model Comparison &amp; Confusion Matrix</a:t>
            </a:r>
            <a:endParaRPr lang="en-US" sz="2600" dirty="0"/>
          </a:p>
        </p:txBody>
      </p:sp>
      <p:pic>
        <p:nvPicPr>
          <p:cNvPr id="3" name="Image 0" descr="/home/claude/chart_model_compare.png"/>
          <p:cNvPicPr>
            <a:picLocks noChangeAspect="1"/>
          </p:cNvPicPr>
          <p:nvPr/>
        </p:nvPicPr>
        <p:blipFill>
          <a:blip r:embed="rId3"/>
          <a:stretch>
            <a:fillRect/>
          </a:stretch>
        </p:blipFill>
        <p:spPr>
          <a:xfrm>
            <a:off x="182880" y="914400"/>
            <a:ext cx="4754880" cy="2926080"/>
          </a:xfrm>
          <a:prstGeom prst="rect">
            <a:avLst/>
          </a:prstGeom>
        </p:spPr>
      </p:pic>
      <p:pic>
        <p:nvPicPr>
          <p:cNvPr id="4" name="Image 1" descr="/home/claude/chart_confusion.png"/>
          <p:cNvPicPr>
            <a:picLocks noChangeAspect="1"/>
          </p:cNvPicPr>
          <p:nvPr/>
        </p:nvPicPr>
        <p:blipFill>
          <a:blip r:embed="rId4"/>
          <a:stretch>
            <a:fillRect/>
          </a:stretch>
        </p:blipFill>
        <p:spPr>
          <a:xfrm>
            <a:off x="4937760" y="914400"/>
            <a:ext cx="3931920" cy="2926080"/>
          </a:xfrm>
          <a:prstGeom prst="rect">
            <a:avLst/>
          </a:prstGeom>
        </p:spPr>
      </p:pic>
      <p:sp>
        <p:nvSpPr>
          <p:cNvPr id="5" name="Shape 1"/>
          <p:cNvSpPr/>
          <p:nvPr/>
        </p:nvSpPr>
        <p:spPr>
          <a:xfrm>
            <a:off x="274320" y="4023360"/>
            <a:ext cx="8595360" cy="8686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Text 2"/>
          <p:cNvSpPr/>
          <p:nvPr/>
        </p:nvSpPr>
        <p:spPr>
          <a:xfrm>
            <a:off x="548640" y="4069080"/>
            <a:ext cx="8046720" cy="777240"/>
          </a:xfrm>
          <a:prstGeom prst="rect">
            <a:avLst/>
          </a:prstGeom>
          <a:noFill/>
          <a:ln/>
        </p:spPr>
        <p:txBody>
          <a:bodyPr wrap="square" lIns="0" tIns="0" rIns="0" bIns="0" rtlCol="0" anchor="ctr"/>
          <a:lstStyle/>
          <a:p>
            <a:pPr marL="0" indent="0">
              <a:lnSpc>
                <a:spcPct val="130000"/>
              </a:lnSpc>
              <a:buNone/>
            </a:pPr>
            <a:r>
              <a:rPr lang="en-US" sz="1150" dirty="0">
                <a:solidFill>
                  <a:srgbClr val="1E293B"/>
                </a:solidFill>
                <a:latin typeface="Calibri" pitchFamily="34" charset="0"/>
                <a:ea typeface="Calibri" pitchFamily="34" charset="-122"/>
                <a:cs typeface="Calibri" pitchFamily="34" charset="-120"/>
              </a:rPr>
              <a:t>The confusion matrix shows Tuned XGBoost predicts Low risk reliably (90/103 correct) but struggles more with High and Moderate classes due to class imbalance and feature overlap between adjacent risk levels.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solidFill>
                  <a:srgbClr val="0F172A"/>
                </a:solidFill>
                <a:latin typeface="Georgia" pitchFamily="34" charset="0"/>
                <a:ea typeface="Georgia" pitchFamily="34" charset="-122"/>
                <a:cs typeface="Georgia" pitchFamily="34" charset="-120"/>
              </a:rPr>
              <a:t>Feature Importance — What Drives Addiction Risk?</a:t>
            </a:r>
            <a:endParaRPr lang="en-US" sz="2600" dirty="0"/>
          </a:p>
        </p:txBody>
      </p:sp>
      <p:pic>
        <p:nvPicPr>
          <p:cNvPr id="3" name="Image 0" descr="/home/claude/chart_feature_imp.png"/>
          <p:cNvPicPr>
            <a:picLocks noChangeAspect="1"/>
          </p:cNvPicPr>
          <p:nvPr/>
        </p:nvPicPr>
        <p:blipFill>
          <a:blip r:embed="rId3"/>
          <a:stretch>
            <a:fillRect/>
          </a:stretch>
        </p:blipFill>
        <p:spPr>
          <a:xfrm>
            <a:off x="182880" y="914400"/>
            <a:ext cx="5029200" cy="3017520"/>
          </a:xfrm>
          <a:prstGeom prst="rect">
            <a:avLst/>
          </a:prstGeom>
        </p:spPr>
      </p:pic>
      <p:sp>
        <p:nvSpPr>
          <p:cNvPr id="4" name="Shape 1"/>
          <p:cNvSpPr/>
          <p:nvPr/>
        </p:nvSpPr>
        <p:spPr>
          <a:xfrm>
            <a:off x="5394960" y="914400"/>
            <a:ext cx="3474720" cy="30175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5" name="Text 2"/>
          <p:cNvSpPr/>
          <p:nvPr/>
        </p:nvSpPr>
        <p:spPr>
          <a:xfrm>
            <a:off x="5577840" y="1005840"/>
            <a:ext cx="3108960" cy="3200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Top Predictors</a:t>
            </a:r>
            <a:endParaRPr lang="en-US" sz="1400" dirty="0"/>
          </a:p>
        </p:txBody>
      </p:sp>
      <p:sp>
        <p:nvSpPr>
          <p:cNvPr id="6" name="Text 3"/>
          <p:cNvSpPr/>
          <p:nvPr/>
        </p:nvSpPr>
        <p:spPr>
          <a:xfrm>
            <a:off x="5577840" y="1417320"/>
            <a:ext cx="2286000" cy="228600"/>
          </a:xfrm>
          <a:prstGeom prst="rect">
            <a:avLst/>
          </a:prstGeom>
          <a:noFill/>
          <a:ln/>
        </p:spPr>
        <p:txBody>
          <a:bodyPr wrap="square" lIns="0" tIns="0" rIns="0" bIns="0" rtlCol="0" anchor="ctr"/>
          <a:lstStyle/>
          <a:p>
            <a:pPr marL="0" indent="0">
              <a:buNone/>
            </a:pPr>
            <a:r>
              <a:rPr lang="en-US" sz="1000" b="1" dirty="0">
                <a:solidFill>
                  <a:srgbClr val="0F172A"/>
                </a:solidFill>
                <a:latin typeface="Consolas" pitchFamily="34" charset="0"/>
                <a:ea typeface="Consolas" pitchFamily="34" charset="-122"/>
                <a:cs typeface="Consolas" pitchFamily="34" charset="-120"/>
              </a:rPr>
              <a:t>daily_gaming_hours</a:t>
            </a:r>
            <a:endParaRPr lang="en-US" sz="1000" dirty="0"/>
          </a:p>
        </p:txBody>
      </p:sp>
      <p:sp>
        <p:nvSpPr>
          <p:cNvPr id="7" name="Text 4"/>
          <p:cNvSpPr/>
          <p:nvPr/>
        </p:nvSpPr>
        <p:spPr>
          <a:xfrm>
            <a:off x="7955280" y="1417320"/>
            <a:ext cx="731520" cy="228600"/>
          </a:xfrm>
          <a:prstGeom prst="rect">
            <a:avLst/>
          </a:prstGeom>
          <a:noFill/>
          <a:ln/>
        </p:spPr>
        <p:txBody>
          <a:bodyPr wrap="square" lIns="0" tIns="0" rIns="0" bIns="0" rtlCol="0" anchor="ctr"/>
          <a:lstStyle/>
          <a:p>
            <a:pPr marL="0" indent="0" algn="r">
              <a:buNone/>
            </a:pPr>
            <a:r>
              <a:rPr lang="en-US" sz="1000" b="1" dirty="0">
                <a:solidFill>
                  <a:srgbClr val="0D9488"/>
                </a:solidFill>
                <a:latin typeface="Calibri" pitchFamily="34" charset="0"/>
                <a:ea typeface="Calibri" pitchFamily="34" charset="-122"/>
                <a:cs typeface="Calibri" pitchFamily="34" charset="-120"/>
              </a:rPr>
              <a:t>9.9%</a:t>
            </a:r>
            <a:endParaRPr lang="en-US" sz="1000" dirty="0"/>
          </a:p>
        </p:txBody>
      </p:sp>
      <p:sp>
        <p:nvSpPr>
          <p:cNvPr id="8" name="Text 5"/>
          <p:cNvSpPr/>
          <p:nvPr/>
        </p:nvSpPr>
        <p:spPr>
          <a:xfrm>
            <a:off x="5577840" y="1645920"/>
            <a:ext cx="310896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Dominant predictor — gaming behavior matters most</a:t>
            </a:r>
            <a:endParaRPr lang="en-US" sz="1000" dirty="0"/>
          </a:p>
        </p:txBody>
      </p:sp>
      <p:sp>
        <p:nvSpPr>
          <p:cNvPr id="9" name="Text 6"/>
          <p:cNvSpPr/>
          <p:nvPr/>
        </p:nvSpPr>
        <p:spPr>
          <a:xfrm>
            <a:off x="5577840" y="2011680"/>
            <a:ext cx="2286000" cy="228600"/>
          </a:xfrm>
          <a:prstGeom prst="rect">
            <a:avLst/>
          </a:prstGeom>
          <a:noFill/>
          <a:ln/>
        </p:spPr>
        <p:txBody>
          <a:bodyPr wrap="square" lIns="0" tIns="0" rIns="0" bIns="0" rtlCol="0" anchor="ctr"/>
          <a:lstStyle/>
          <a:p>
            <a:pPr marL="0" indent="0">
              <a:buNone/>
            </a:pPr>
            <a:r>
              <a:rPr lang="en-US" sz="1000" b="1" dirty="0">
                <a:solidFill>
                  <a:srgbClr val="0F172A"/>
                </a:solidFill>
                <a:latin typeface="Consolas" pitchFamily="34" charset="0"/>
                <a:ea typeface="Consolas" pitchFamily="34" charset="-122"/>
                <a:cs typeface="Consolas" pitchFamily="34" charset="-120"/>
              </a:rPr>
              <a:t>social_isolation_score</a:t>
            </a:r>
            <a:endParaRPr lang="en-US" sz="1000" dirty="0"/>
          </a:p>
        </p:txBody>
      </p:sp>
      <p:sp>
        <p:nvSpPr>
          <p:cNvPr id="10" name="Text 7"/>
          <p:cNvSpPr/>
          <p:nvPr/>
        </p:nvSpPr>
        <p:spPr>
          <a:xfrm>
            <a:off x="7955280" y="2011680"/>
            <a:ext cx="731520" cy="228600"/>
          </a:xfrm>
          <a:prstGeom prst="rect">
            <a:avLst/>
          </a:prstGeom>
          <a:noFill/>
          <a:ln/>
        </p:spPr>
        <p:txBody>
          <a:bodyPr wrap="square" lIns="0" tIns="0" rIns="0" bIns="0" rtlCol="0" anchor="ctr"/>
          <a:lstStyle/>
          <a:p>
            <a:pPr marL="0" indent="0" algn="r">
              <a:buNone/>
            </a:pPr>
            <a:r>
              <a:rPr lang="en-US" sz="1000" b="1" dirty="0">
                <a:solidFill>
                  <a:srgbClr val="0D9488"/>
                </a:solidFill>
                <a:latin typeface="Calibri" pitchFamily="34" charset="0"/>
                <a:ea typeface="Calibri" pitchFamily="34" charset="-122"/>
                <a:cs typeface="Calibri" pitchFamily="34" charset="-120"/>
              </a:rPr>
              <a:t>3.2%</a:t>
            </a:r>
            <a:endParaRPr lang="en-US" sz="1000" dirty="0"/>
          </a:p>
        </p:txBody>
      </p:sp>
      <p:sp>
        <p:nvSpPr>
          <p:cNvPr id="11" name="Text 8"/>
          <p:cNvSpPr/>
          <p:nvPr/>
        </p:nvSpPr>
        <p:spPr>
          <a:xfrm>
            <a:off x="5577840" y="2240280"/>
            <a:ext cx="310896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Social withdrawal strongly linked to higher risk</a:t>
            </a:r>
            <a:endParaRPr lang="en-US" sz="1000" dirty="0"/>
          </a:p>
        </p:txBody>
      </p:sp>
      <p:sp>
        <p:nvSpPr>
          <p:cNvPr id="12" name="Text 9"/>
          <p:cNvSpPr/>
          <p:nvPr/>
        </p:nvSpPr>
        <p:spPr>
          <a:xfrm>
            <a:off x="5577840" y="2606040"/>
            <a:ext cx="2286000" cy="228600"/>
          </a:xfrm>
          <a:prstGeom prst="rect">
            <a:avLst/>
          </a:prstGeom>
          <a:noFill/>
          <a:ln/>
        </p:spPr>
        <p:txBody>
          <a:bodyPr wrap="square" lIns="0" tIns="0" rIns="0" bIns="0" rtlCol="0" anchor="ctr"/>
          <a:lstStyle/>
          <a:p>
            <a:pPr marL="0" indent="0">
              <a:buNone/>
            </a:pPr>
            <a:r>
              <a:rPr lang="en-US" sz="1000" b="1" dirty="0">
                <a:solidFill>
                  <a:srgbClr val="0F172A"/>
                </a:solidFill>
                <a:latin typeface="Consolas" pitchFamily="34" charset="0"/>
                <a:ea typeface="Consolas" pitchFamily="34" charset="-122"/>
                <a:cs typeface="Consolas" pitchFamily="34" charset="-120"/>
              </a:rPr>
              <a:t>sleep_hours</a:t>
            </a:r>
            <a:endParaRPr lang="en-US" sz="1000" dirty="0"/>
          </a:p>
        </p:txBody>
      </p:sp>
      <p:sp>
        <p:nvSpPr>
          <p:cNvPr id="13" name="Text 10"/>
          <p:cNvSpPr/>
          <p:nvPr/>
        </p:nvSpPr>
        <p:spPr>
          <a:xfrm>
            <a:off x="7955280" y="2606040"/>
            <a:ext cx="731520" cy="228600"/>
          </a:xfrm>
          <a:prstGeom prst="rect">
            <a:avLst/>
          </a:prstGeom>
          <a:noFill/>
          <a:ln/>
        </p:spPr>
        <p:txBody>
          <a:bodyPr wrap="square" lIns="0" tIns="0" rIns="0" bIns="0" rtlCol="0" anchor="ctr"/>
          <a:lstStyle/>
          <a:p>
            <a:pPr marL="0" indent="0" algn="r">
              <a:buNone/>
            </a:pPr>
            <a:r>
              <a:rPr lang="en-US" sz="1000" b="1" dirty="0">
                <a:solidFill>
                  <a:srgbClr val="0D9488"/>
                </a:solidFill>
                <a:latin typeface="Calibri" pitchFamily="34" charset="0"/>
                <a:ea typeface="Calibri" pitchFamily="34" charset="-122"/>
                <a:cs typeface="Calibri" pitchFamily="34" charset="-120"/>
              </a:rPr>
              <a:t>2.0%</a:t>
            </a:r>
            <a:endParaRPr lang="en-US" sz="1000" dirty="0"/>
          </a:p>
        </p:txBody>
      </p:sp>
      <p:sp>
        <p:nvSpPr>
          <p:cNvPr id="14" name="Text 11"/>
          <p:cNvSpPr/>
          <p:nvPr/>
        </p:nvSpPr>
        <p:spPr>
          <a:xfrm>
            <a:off x="5577840" y="2834640"/>
            <a:ext cx="310896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Less sleep correlates with increased addiction</a:t>
            </a:r>
            <a:endParaRPr lang="en-US" sz="1000" dirty="0"/>
          </a:p>
        </p:txBody>
      </p:sp>
      <p:sp>
        <p:nvSpPr>
          <p:cNvPr id="15" name="Text 12"/>
          <p:cNvSpPr/>
          <p:nvPr/>
        </p:nvSpPr>
        <p:spPr>
          <a:xfrm>
            <a:off x="5577840" y="3200400"/>
            <a:ext cx="2286000" cy="228600"/>
          </a:xfrm>
          <a:prstGeom prst="rect">
            <a:avLst/>
          </a:prstGeom>
          <a:noFill/>
          <a:ln/>
        </p:spPr>
        <p:txBody>
          <a:bodyPr wrap="square" lIns="0" tIns="0" rIns="0" bIns="0" rtlCol="0" anchor="ctr"/>
          <a:lstStyle/>
          <a:p>
            <a:pPr marL="0" indent="0">
              <a:buNone/>
            </a:pPr>
            <a:r>
              <a:rPr lang="en-US" sz="1000" b="1" dirty="0">
                <a:solidFill>
                  <a:srgbClr val="0F172A"/>
                </a:solidFill>
                <a:latin typeface="Consolas" pitchFamily="34" charset="0"/>
                <a:ea typeface="Consolas" pitchFamily="34" charset="-122"/>
                <a:cs typeface="Consolas" pitchFamily="34" charset="-120"/>
              </a:rPr>
              <a:t>exercise_hours_weekly</a:t>
            </a:r>
            <a:endParaRPr lang="en-US" sz="1000" dirty="0"/>
          </a:p>
        </p:txBody>
      </p:sp>
      <p:sp>
        <p:nvSpPr>
          <p:cNvPr id="16" name="Text 13"/>
          <p:cNvSpPr/>
          <p:nvPr/>
        </p:nvSpPr>
        <p:spPr>
          <a:xfrm>
            <a:off x="7955280" y="3200400"/>
            <a:ext cx="731520" cy="228600"/>
          </a:xfrm>
          <a:prstGeom prst="rect">
            <a:avLst/>
          </a:prstGeom>
          <a:noFill/>
          <a:ln/>
        </p:spPr>
        <p:txBody>
          <a:bodyPr wrap="square" lIns="0" tIns="0" rIns="0" bIns="0" rtlCol="0" anchor="ctr"/>
          <a:lstStyle/>
          <a:p>
            <a:pPr marL="0" indent="0" algn="r">
              <a:buNone/>
            </a:pPr>
            <a:r>
              <a:rPr lang="en-US" sz="1000" b="1" dirty="0">
                <a:solidFill>
                  <a:srgbClr val="0D9488"/>
                </a:solidFill>
                <a:latin typeface="Calibri" pitchFamily="34" charset="0"/>
                <a:ea typeface="Calibri" pitchFamily="34" charset="-122"/>
                <a:cs typeface="Calibri" pitchFamily="34" charset="-120"/>
              </a:rPr>
              <a:t>1.8%</a:t>
            </a:r>
            <a:endParaRPr lang="en-US" sz="1000" dirty="0"/>
          </a:p>
        </p:txBody>
      </p:sp>
      <p:sp>
        <p:nvSpPr>
          <p:cNvPr id="17" name="Text 14"/>
          <p:cNvSpPr/>
          <p:nvPr/>
        </p:nvSpPr>
        <p:spPr>
          <a:xfrm>
            <a:off x="5577840" y="3429000"/>
            <a:ext cx="310896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Physical activity serves as a protective factor</a:t>
            </a:r>
            <a:endParaRPr lang="en-US" sz="1000" dirty="0"/>
          </a:p>
        </p:txBody>
      </p:sp>
      <p:sp>
        <p:nvSpPr>
          <p:cNvPr id="18" name="Shape 15"/>
          <p:cNvSpPr/>
          <p:nvPr/>
        </p:nvSpPr>
        <p:spPr>
          <a:xfrm>
            <a:off x="274320" y="4114800"/>
            <a:ext cx="8595360" cy="7772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9" name="Text 16"/>
          <p:cNvSpPr/>
          <p:nvPr/>
        </p:nvSpPr>
        <p:spPr>
          <a:xfrm>
            <a:off x="548640" y="4160520"/>
            <a:ext cx="8046720" cy="68580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Behavioral features (gaming hours, social isolation) are far more impactful than demographic ones (age, gender), confirming that addiction risk is driven by modifiable habits rather than fixed traits.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Georgia" pitchFamily="34" charset="0"/>
                <a:ea typeface="Georgia" pitchFamily="34" charset="-122"/>
                <a:cs typeface="Georgia" pitchFamily="34" charset="-120"/>
              </a:rPr>
              <a:t>Key Insights &amp; Conclusion</a:t>
            </a:r>
            <a:endParaRPr lang="en-US" sz="2800" dirty="0"/>
          </a:p>
        </p:txBody>
      </p:sp>
      <p:sp>
        <p:nvSpPr>
          <p:cNvPr id="3" name="Shape 1"/>
          <p:cNvSpPr/>
          <p:nvPr/>
        </p:nvSpPr>
        <p:spPr>
          <a:xfrm>
            <a:off x="365760" y="1051560"/>
            <a:ext cx="4114800" cy="16459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548640" y="1234440"/>
            <a:ext cx="457200" cy="457200"/>
          </a:xfrm>
          <a:prstGeom prst="ellipse">
            <a:avLst/>
          </a:prstGeom>
          <a:solidFill>
            <a:srgbClr val="0D9488"/>
          </a:solidFill>
          <a:ln/>
        </p:spPr>
        <p:txBody>
          <a:bodyPr/>
          <a:lstStyle/>
          <a:p>
            <a:endParaRPr lang="en-US"/>
          </a:p>
        </p:txBody>
      </p:sp>
      <p:sp>
        <p:nvSpPr>
          <p:cNvPr id="5" name="Text 3"/>
          <p:cNvSpPr/>
          <p:nvPr/>
        </p:nvSpPr>
        <p:spPr>
          <a:xfrm>
            <a:off x="548640" y="1234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143000" y="1234440"/>
            <a:ext cx="31089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Behavioral Factors Dominate</a:t>
            </a:r>
            <a:endParaRPr lang="en-US" sz="1400" dirty="0"/>
          </a:p>
        </p:txBody>
      </p:sp>
      <p:sp>
        <p:nvSpPr>
          <p:cNvPr id="7" name="Text 5"/>
          <p:cNvSpPr/>
          <p:nvPr/>
        </p:nvSpPr>
        <p:spPr>
          <a:xfrm>
            <a:off x="594360" y="1737360"/>
            <a:ext cx="3657600" cy="8686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Daily gaming hours is the single most important predictor, followed by social isolation score. Demographic variables contribute relatively little.</a:t>
            </a:r>
            <a:endParaRPr lang="en-US" sz="1150" dirty="0"/>
          </a:p>
        </p:txBody>
      </p:sp>
      <p:sp>
        <p:nvSpPr>
          <p:cNvPr id="8" name="Shape 6"/>
          <p:cNvSpPr/>
          <p:nvPr/>
        </p:nvSpPr>
        <p:spPr>
          <a:xfrm>
            <a:off x="4663440" y="1051560"/>
            <a:ext cx="4114800" cy="16459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Shape 7"/>
          <p:cNvSpPr/>
          <p:nvPr/>
        </p:nvSpPr>
        <p:spPr>
          <a:xfrm>
            <a:off x="4846320" y="1234440"/>
            <a:ext cx="457200" cy="457200"/>
          </a:xfrm>
          <a:prstGeom prst="ellipse">
            <a:avLst/>
          </a:prstGeom>
          <a:solidFill>
            <a:srgbClr val="0D9488"/>
          </a:solidFill>
          <a:ln/>
        </p:spPr>
        <p:txBody>
          <a:bodyPr/>
          <a:lstStyle/>
          <a:p>
            <a:endParaRPr lang="en-US"/>
          </a:p>
        </p:txBody>
      </p:sp>
      <p:sp>
        <p:nvSpPr>
          <p:cNvPr id="10" name="Text 8"/>
          <p:cNvSpPr/>
          <p:nvPr/>
        </p:nvSpPr>
        <p:spPr>
          <a:xfrm>
            <a:off x="4846320" y="1234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5440680" y="1234440"/>
            <a:ext cx="31089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Tuning Matters Significantly</a:t>
            </a:r>
            <a:endParaRPr lang="en-US" sz="1400" dirty="0"/>
          </a:p>
        </p:txBody>
      </p:sp>
      <p:sp>
        <p:nvSpPr>
          <p:cNvPr id="12" name="Text 10"/>
          <p:cNvSpPr/>
          <p:nvPr/>
        </p:nvSpPr>
        <p:spPr>
          <a:xfrm>
            <a:off x="4892040" y="1737360"/>
            <a:ext cx="3657600" cy="8686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Hyperparameter optimization with RandomizedSearchCV improved XGBoost accuracy from 67.5% to 72.5% — a meaningful gain for a real-world classification task.</a:t>
            </a:r>
            <a:endParaRPr lang="en-US" sz="1150" dirty="0"/>
          </a:p>
        </p:txBody>
      </p:sp>
      <p:sp>
        <p:nvSpPr>
          <p:cNvPr id="13" name="Shape 11"/>
          <p:cNvSpPr/>
          <p:nvPr/>
        </p:nvSpPr>
        <p:spPr>
          <a:xfrm>
            <a:off x="365760" y="2926080"/>
            <a:ext cx="4114800" cy="16459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4" name="Shape 12"/>
          <p:cNvSpPr/>
          <p:nvPr/>
        </p:nvSpPr>
        <p:spPr>
          <a:xfrm>
            <a:off x="548640" y="3108960"/>
            <a:ext cx="457200" cy="457200"/>
          </a:xfrm>
          <a:prstGeom prst="ellipse">
            <a:avLst/>
          </a:prstGeom>
          <a:solidFill>
            <a:srgbClr val="0D9488"/>
          </a:solidFill>
          <a:ln/>
        </p:spPr>
        <p:txBody>
          <a:bodyPr/>
          <a:lstStyle/>
          <a:p>
            <a:endParaRPr lang="en-US"/>
          </a:p>
        </p:txBody>
      </p:sp>
      <p:sp>
        <p:nvSpPr>
          <p:cNvPr id="15" name="Text 13"/>
          <p:cNvSpPr/>
          <p:nvPr/>
        </p:nvSpPr>
        <p:spPr>
          <a:xfrm>
            <a:off x="54864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143000" y="3108960"/>
            <a:ext cx="31089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Class Imbalance Is a Challenge</a:t>
            </a:r>
            <a:endParaRPr lang="en-US" sz="1400" dirty="0"/>
          </a:p>
        </p:txBody>
      </p:sp>
      <p:sp>
        <p:nvSpPr>
          <p:cNvPr id="17" name="Text 15"/>
          <p:cNvSpPr/>
          <p:nvPr/>
        </p:nvSpPr>
        <p:spPr>
          <a:xfrm>
            <a:off x="594360" y="3611880"/>
            <a:ext cx="3657600" cy="8686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The Low risk class dominates the dataset. Using sample weights partially mitigated this, but minority classes (High, Severe) remain harder to predict.</a:t>
            </a:r>
            <a:endParaRPr lang="en-US" sz="1150" dirty="0"/>
          </a:p>
        </p:txBody>
      </p:sp>
      <p:sp>
        <p:nvSpPr>
          <p:cNvPr id="18" name="Shape 16"/>
          <p:cNvSpPr/>
          <p:nvPr/>
        </p:nvSpPr>
        <p:spPr>
          <a:xfrm>
            <a:off x="4663440" y="2926080"/>
            <a:ext cx="4114800" cy="16459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9" name="Shape 17"/>
          <p:cNvSpPr/>
          <p:nvPr/>
        </p:nvSpPr>
        <p:spPr>
          <a:xfrm>
            <a:off x="4846320" y="3108960"/>
            <a:ext cx="457200" cy="457200"/>
          </a:xfrm>
          <a:prstGeom prst="ellipse">
            <a:avLst/>
          </a:prstGeom>
          <a:solidFill>
            <a:srgbClr val="0D9488"/>
          </a:solidFill>
          <a:ln/>
        </p:spPr>
        <p:txBody>
          <a:bodyPr/>
          <a:lstStyle/>
          <a:p>
            <a:endParaRPr lang="en-US"/>
          </a:p>
        </p:txBody>
      </p:sp>
      <p:sp>
        <p:nvSpPr>
          <p:cNvPr id="20" name="Text 18"/>
          <p:cNvSpPr/>
          <p:nvPr/>
        </p:nvSpPr>
        <p:spPr>
          <a:xfrm>
            <a:off x="484632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5440680" y="3108960"/>
            <a:ext cx="31089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Tree Models Outperform KNN</a:t>
            </a:r>
            <a:endParaRPr lang="en-US" sz="1400" dirty="0"/>
          </a:p>
        </p:txBody>
      </p:sp>
      <p:sp>
        <p:nvSpPr>
          <p:cNvPr id="22" name="Text 20"/>
          <p:cNvSpPr/>
          <p:nvPr/>
        </p:nvSpPr>
        <p:spPr>
          <a:xfrm>
            <a:off x="4892040" y="3611880"/>
            <a:ext cx="3657600" cy="8686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Gradient Boosting and XGBoost consistently beat KNN, confirming tree-based ensembles handle structured tabular data with encoded categoricals more effectively.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txBody>
          <a:bodyPr/>
          <a:lstStyle/>
          <a:p>
            <a:endParaRPr lang="en-US"/>
          </a:p>
        </p:txBody>
      </p:sp>
      <p:sp>
        <p:nvSpPr>
          <p:cNvPr id="3" name="Text 1"/>
          <p:cNvSpPr/>
          <p:nvPr/>
        </p:nvSpPr>
        <p:spPr>
          <a:xfrm>
            <a:off x="640080" y="1097280"/>
            <a:ext cx="4572000" cy="91440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4" name="Text 2"/>
          <p:cNvSpPr/>
          <p:nvPr/>
        </p:nvSpPr>
        <p:spPr>
          <a:xfrm>
            <a:off x="640080" y="2011680"/>
            <a:ext cx="4572000" cy="548640"/>
          </a:xfrm>
          <a:prstGeom prst="rect">
            <a:avLst/>
          </a:prstGeom>
          <a:noFill/>
          <a:ln/>
        </p:spPr>
        <p:txBody>
          <a:bodyPr wrap="square" lIns="0" tIns="0" rIns="0" bIns="0" rtlCol="0" anchor="ctr"/>
          <a:lstStyle/>
          <a:p>
            <a:pPr marL="0" indent="0">
              <a:buNone/>
            </a:pPr>
            <a:r>
              <a:rPr lang="en-US" sz="2000" i="1" dirty="0">
                <a:solidFill>
                  <a:srgbClr val="5EEAD4"/>
                </a:solidFill>
                <a:latin typeface="Calibri" pitchFamily="34" charset="0"/>
                <a:ea typeface="Calibri" pitchFamily="34" charset="-122"/>
                <a:cs typeface="Calibri" pitchFamily="34" charset="-120"/>
              </a:rPr>
              <a:t>Any Questions?</a:t>
            </a:r>
            <a:endParaRPr lang="en-US" sz="2000" dirty="0"/>
          </a:p>
        </p:txBody>
      </p:sp>
      <p:sp>
        <p:nvSpPr>
          <p:cNvPr id="5" name="Shape 3"/>
          <p:cNvSpPr/>
          <p:nvPr/>
        </p:nvSpPr>
        <p:spPr>
          <a:xfrm>
            <a:off x="640080" y="2743200"/>
            <a:ext cx="2743200" cy="27432"/>
          </a:xfrm>
          <a:prstGeom prst="rect">
            <a:avLst/>
          </a:prstGeom>
          <a:solidFill>
            <a:srgbClr val="0D9488"/>
          </a:solidFill>
          <a:ln/>
        </p:spPr>
        <p:txBody>
          <a:bodyPr/>
          <a:lstStyle/>
          <a:p>
            <a:endParaRPr lang="en-US"/>
          </a:p>
        </p:txBody>
      </p:sp>
      <p:sp>
        <p:nvSpPr>
          <p:cNvPr id="6" name="Text 4"/>
          <p:cNvSpPr/>
          <p:nvPr/>
        </p:nvSpPr>
        <p:spPr>
          <a:xfrm>
            <a:off x="640080" y="3045293"/>
            <a:ext cx="5486400" cy="264495"/>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Instructor: Khulud Alshammari  |  TA: Abdullah Alharbi</a:t>
            </a:r>
            <a:endParaRPr lang="en-US" sz="1200" dirty="0"/>
          </a:p>
        </p:txBody>
      </p:sp>
      <p:sp>
        <p:nvSpPr>
          <p:cNvPr id="7" name="Shape 5"/>
          <p:cNvSpPr/>
          <p:nvPr/>
        </p:nvSpPr>
        <p:spPr>
          <a:xfrm>
            <a:off x="6583680" y="731520"/>
            <a:ext cx="2194560" cy="82296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6583680" y="777240"/>
            <a:ext cx="2194560" cy="457200"/>
          </a:xfrm>
          <a:prstGeom prst="rect">
            <a:avLst/>
          </a:prstGeom>
          <a:noFill/>
          <a:ln/>
        </p:spPr>
        <p:txBody>
          <a:bodyPr wrap="square" lIns="0" tIns="0" rIns="0" bIns="0" rtlCol="0" anchor="ctr"/>
          <a:lstStyle/>
          <a:p>
            <a:pPr marL="0" indent="0" algn="ctr">
              <a:buNone/>
            </a:pPr>
            <a:r>
              <a:rPr lang="en-US" sz="2400" b="1" dirty="0">
                <a:solidFill>
                  <a:srgbClr val="5EEAD4"/>
                </a:solidFill>
                <a:latin typeface="Georgia" pitchFamily="34" charset="0"/>
                <a:ea typeface="Georgia" pitchFamily="34" charset="-122"/>
                <a:cs typeface="Georgia" pitchFamily="34" charset="-120"/>
              </a:rPr>
              <a:t>72.5%</a:t>
            </a:r>
            <a:endParaRPr lang="en-US" sz="2400" dirty="0"/>
          </a:p>
        </p:txBody>
      </p:sp>
      <p:sp>
        <p:nvSpPr>
          <p:cNvPr id="9" name="Text 7"/>
          <p:cNvSpPr/>
          <p:nvPr/>
        </p:nvSpPr>
        <p:spPr>
          <a:xfrm>
            <a:off x="6583680" y="1234440"/>
            <a:ext cx="219456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Best Accuracy</a:t>
            </a:r>
            <a:endParaRPr lang="en-US" sz="1000" dirty="0"/>
          </a:p>
        </p:txBody>
      </p:sp>
      <p:sp>
        <p:nvSpPr>
          <p:cNvPr id="10" name="Shape 8"/>
          <p:cNvSpPr/>
          <p:nvPr/>
        </p:nvSpPr>
        <p:spPr>
          <a:xfrm>
            <a:off x="6583680" y="1737360"/>
            <a:ext cx="2194560" cy="82296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11" name="Text 9"/>
          <p:cNvSpPr/>
          <p:nvPr/>
        </p:nvSpPr>
        <p:spPr>
          <a:xfrm>
            <a:off x="6583680" y="1783080"/>
            <a:ext cx="2194560" cy="457200"/>
          </a:xfrm>
          <a:prstGeom prst="rect">
            <a:avLst/>
          </a:prstGeom>
          <a:noFill/>
          <a:ln/>
        </p:spPr>
        <p:txBody>
          <a:bodyPr wrap="square" lIns="0" tIns="0" rIns="0" bIns="0" rtlCol="0" anchor="ctr"/>
          <a:lstStyle/>
          <a:p>
            <a:pPr marL="0" indent="0" algn="ctr">
              <a:buNone/>
            </a:pPr>
            <a:r>
              <a:rPr lang="en-US" sz="2400" b="1" dirty="0">
                <a:solidFill>
                  <a:srgbClr val="5EEAD4"/>
                </a:solidFill>
                <a:latin typeface="Georgia" pitchFamily="34" charset="0"/>
                <a:ea typeface="Georgia" pitchFamily="34" charset="-122"/>
                <a:cs typeface="Georgia" pitchFamily="34" charset="-120"/>
              </a:rPr>
              <a:t>72.5%</a:t>
            </a:r>
            <a:endParaRPr lang="en-US" sz="2400" dirty="0"/>
          </a:p>
        </p:txBody>
      </p:sp>
      <p:sp>
        <p:nvSpPr>
          <p:cNvPr id="12" name="Text 10"/>
          <p:cNvSpPr/>
          <p:nvPr/>
        </p:nvSpPr>
        <p:spPr>
          <a:xfrm>
            <a:off x="6583680" y="2240280"/>
            <a:ext cx="219456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Best F1 Score</a:t>
            </a:r>
            <a:endParaRPr lang="en-US" sz="1000" dirty="0"/>
          </a:p>
        </p:txBody>
      </p:sp>
      <p:sp>
        <p:nvSpPr>
          <p:cNvPr id="13" name="Shape 11"/>
          <p:cNvSpPr/>
          <p:nvPr/>
        </p:nvSpPr>
        <p:spPr>
          <a:xfrm>
            <a:off x="6583680" y="2743200"/>
            <a:ext cx="2194560" cy="82296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14" name="Text 12"/>
          <p:cNvSpPr/>
          <p:nvPr/>
        </p:nvSpPr>
        <p:spPr>
          <a:xfrm>
            <a:off x="6583680" y="2788920"/>
            <a:ext cx="2194560" cy="457200"/>
          </a:xfrm>
          <a:prstGeom prst="rect">
            <a:avLst/>
          </a:prstGeom>
          <a:noFill/>
          <a:ln/>
        </p:spPr>
        <p:txBody>
          <a:bodyPr wrap="square" lIns="0" tIns="0" rIns="0" bIns="0" rtlCol="0" anchor="ctr"/>
          <a:lstStyle/>
          <a:p>
            <a:pPr marL="0" indent="0" algn="ctr">
              <a:buNone/>
            </a:pPr>
            <a:r>
              <a:rPr lang="en-US" sz="2400" b="1" dirty="0">
                <a:solidFill>
                  <a:srgbClr val="5EEAD4"/>
                </a:solidFill>
                <a:latin typeface="Georgia" pitchFamily="34" charset="0"/>
                <a:ea typeface="Georgia" pitchFamily="34" charset="-122"/>
                <a:cs typeface="Georgia" pitchFamily="34" charset="-120"/>
              </a:rPr>
              <a:t>1,000</a:t>
            </a:r>
            <a:endParaRPr lang="en-US" sz="2400" dirty="0"/>
          </a:p>
        </p:txBody>
      </p:sp>
      <p:sp>
        <p:nvSpPr>
          <p:cNvPr id="15" name="Text 13"/>
          <p:cNvSpPr/>
          <p:nvPr/>
        </p:nvSpPr>
        <p:spPr>
          <a:xfrm>
            <a:off x="6583680" y="3246120"/>
            <a:ext cx="219456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Records</a:t>
            </a:r>
            <a:endParaRPr lang="en-US" sz="1000" dirty="0"/>
          </a:p>
        </p:txBody>
      </p:sp>
      <p:sp>
        <p:nvSpPr>
          <p:cNvPr id="16" name="Shape 14"/>
          <p:cNvSpPr/>
          <p:nvPr/>
        </p:nvSpPr>
        <p:spPr>
          <a:xfrm>
            <a:off x="6583680" y="3749040"/>
            <a:ext cx="2194560" cy="82296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17" name="Text 15"/>
          <p:cNvSpPr/>
          <p:nvPr/>
        </p:nvSpPr>
        <p:spPr>
          <a:xfrm>
            <a:off x="6583680" y="3794760"/>
            <a:ext cx="2194560" cy="457200"/>
          </a:xfrm>
          <a:prstGeom prst="rect">
            <a:avLst/>
          </a:prstGeom>
          <a:noFill/>
          <a:ln/>
        </p:spPr>
        <p:txBody>
          <a:bodyPr wrap="square" lIns="0" tIns="0" rIns="0" bIns="0" rtlCol="0" anchor="ctr"/>
          <a:lstStyle/>
          <a:p>
            <a:pPr marL="0" indent="0" algn="ctr">
              <a:buNone/>
            </a:pPr>
            <a:r>
              <a:rPr lang="en-US" sz="2400" b="1" dirty="0">
                <a:solidFill>
                  <a:srgbClr val="5EEAD4"/>
                </a:solidFill>
                <a:latin typeface="Georgia" pitchFamily="34" charset="0"/>
                <a:ea typeface="Georgia" pitchFamily="34" charset="-122"/>
                <a:cs typeface="Georgia" pitchFamily="34" charset="-120"/>
              </a:rPr>
              <a:t>4</a:t>
            </a:r>
            <a:endParaRPr lang="en-US" sz="2400" dirty="0"/>
          </a:p>
        </p:txBody>
      </p:sp>
      <p:sp>
        <p:nvSpPr>
          <p:cNvPr id="18" name="Text 16"/>
          <p:cNvSpPr/>
          <p:nvPr/>
        </p:nvSpPr>
        <p:spPr>
          <a:xfrm>
            <a:off x="6583680" y="4251960"/>
            <a:ext cx="219456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Models Compared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TotalTime>
  <Words>1483</Words>
  <Application>Microsoft Office PowerPoint</Application>
  <PresentationFormat>On-screen Show (16:9)</PresentationFormat>
  <Paragraphs>249</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Gaming Addiction Risk Prediction — Gradient Boosting &amp; XGBoost</dc:title>
  <dc:subject>PptxGenJS Presentation</dc:subject>
  <dc:creator>Gaming Addiction ML Team</dc:creator>
  <cp:lastModifiedBy>Abdulrhman Bajunaid</cp:lastModifiedBy>
  <cp:revision>4</cp:revision>
  <dcterms:created xsi:type="dcterms:W3CDTF">2026-03-29T17:19:28Z</dcterms:created>
  <dcterms:modified xsi:type="dcterms:W3CDTF">2026-03-30T11:13:38Z</dcterms:modified>
</cp:coreProperties>
</file>